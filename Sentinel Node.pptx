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77" d="100"/>
          <a:sy n="77" d="100"/>
        </p:scale>
        <p:origin x="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049D-DFF0-B07B-6F9C-A0D21374F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4DB7D3-5746-9D9C-0C88-D47DB82CF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1D404-7F94-B9F2-746B-855E27B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1D1E3-D61C-E285-D8E9-D4D17255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653CC-E7E0-A17B-9157-82A6F89E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6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0BD0-118E-AF0A-C885-B3333DF96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C1511-BB07-F016-613F-D3DE1CA7E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033F2-2757-81BD-CC18-B1E5348EA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A84A-B552-1F7C-982D-5832AF593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8A7BC-7EF9-F60A-2328-47303515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61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62160-F15B-8BE9-2B66-89F054901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0344F-2AB4-58D4-0495-7D7F91361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7AA5F-401C-0920-CD20-B3CE4272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7AF8E-0DF8-4C3A-8526-9602E956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A73F9-AC86-CFCB-5150-40D0B2E4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0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DCFF-D87F-F37C-D3AE-E7894BA4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FD2C9-352D-CBF6-9A96-4CFE54D15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721CB-60E7-CCC7-7908-FDD5D1300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BD019-793A-8C57-A3CA-89FBFA8C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8A09E-CDCB-9253-40C8-EE6B1D03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AC515-0071-AB54-E0DF-697D6B6F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74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DD18-54A3-5629-3F72-CE5DD9C65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83A99-D69C-E573-E303-86D5AADF4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B4814-0A9A-1FFF-CF41-A243404F6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466D4-759E-7BC2-CD5E-E3D9DBFA2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90045-F583-66E3-AA67-45EB04D07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DF890-5BC2-49ED-4CCC-213B43D0B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F14A62-630A-8378-0AC0-E6160F9E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5A8492-E881-4B43-51F2-1522DFA9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6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049D-62AC-2C7D-8B8F-9C62F75DC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CA7BC-9D2F-F527-75A0-C895CF72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D1FC6-FB5E-8273-BF7C-2D686468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B9354-0168-A73B-7955-54F7C85F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4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B8C83-B487-D9E5-4BB1-F790B518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109D5E-6A21-CAC9-EF45-AB657ABD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88046-2569-CECA-6658-39B5CEE3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3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9EDE3-68A1-36E1-1641-692ED4925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9A304-4615-8745-4807-658BE1251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108A8-2B07-0DA3-1A14-9DA2762CA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2A4B2-8C62-2F22-7983-0F4BE2D9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3CE25-0379-4F35-27D5-093A958C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DB723-4F18-F3FC-80CE-1D518FAC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18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A926-6048-45D4-05A5-2A6D439B8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939FD1-B01D-4003-F291-EE40B6C18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53A90-DB31-DC10-ED6D-D4BFA33B3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94736-4895-1F91-B934-D2CFAC1D3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6B3B2-236A-851E-C947-FA84EB5D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114DC-A2EF-7BE4-9943-CFD90F96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4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0FA8-405F-AE43-940F-227B4C9B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8C75E-C371-A80F-C17E-8F01A6D6A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86828-C071-6A26-FBCC-07689D043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D6892-9404-902D-8AF3-EC88B1D2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5404C-340C-B215-BF22-E5721ED3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0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CB70C-B9E1-3E18-D1D3-CE4DA168D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91BC1-5313-67FE-E8B5-F6B0232CD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5FA58-C01A-52FA-D4D4-3DDD8D46F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4574-B3FC-4ED7-AF40-4339B792A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8AB7F-FA11-D705-5C2A-4A3EE7F3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4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AE99EA-A6DF-D977-7934-2EB6ADC28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1192C-FD97-A275-1D26-330C7E061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2297A-09F9-2975-469C-97AD4B0AD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577AA-FB59-4C0A-82DE-B0135120221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3E4CB-A08A-5CB4-130E-98235ED8B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642D9-756D-7741-5520-6C2E2BD1F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763D2-B3E1-47A5-B058-E951168E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5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584-12BF-80F3-2E26-FBF90B39C4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Sentinel Node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F58F5-0F13-93B3-1F6A-A72A1D5EB2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220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7A50-480B-71B0-0672-B795C60C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Problem 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77601-D831-019A-0342-C7040503A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The Threat: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 -Mpumalanga's coal power stations produce </a:t>
            </a:r>
            <a:r>
              <a:rPr lang="en-US" b="1" dirty="0"/>
              <a:t>25 million tons of toxic ash</a:t>
            </a:r>
            <a:r>
              <a:rPr lang="en-US" dirty="0"/>
              <a:t> annually.</a:t>
            </a:r>
          </a:p>
          <a:p>
            <a:pPr marL="0" lvl="0" indent="0">
              <a:buNone/>
            </a:pPr>
            <a:r>
              <a:rPr lang="en-US" dirty="0"/>
              <a:t>  -This ash is mixed with water and stored in massive, high-hazard dams.</a:t>
            </a:r>
          </a:p>
          <a:p>
            <a:r>
              <a:rPr lang="en-US" b="1" dirty="0"/>
              <a:t>The Risk: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 -Anomalous water rise or structural failure causes catastrophic breach.</a:t>
            </a:r>
          </a:p>
          <a:p>
            <a:pPr marL="0" lvl="0" indent="0">
              <a:buNone/>
            </a:pPr>
            <a:r>
              <a:rPr lang="en-US" dirty="0"/>
              <a:t>  -A wall can liquefy and collapse in </a:t>
            </a:r>
            <a:r>
              <a:rPr lang="en-US" b="1" dirty="0"/>
              <a:t>minutes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The Consequence:</a:t>
            </a:r>
            <a:r>
              <a:rPr lang="en-US" dirty="0"/>
              <a:t> Environmental devastation, poisoned water systems, and risk to human life.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20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196B-C268-A0C2-0125-D61252CBC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</a:t>
            </a:r>
            <a:br>
              <a:rPr lang="en-US" b="1" dirty="0"/>
            </a:br>
            <a:r>
              <a:rPr lang="en-US" b="1" dirty="0"/>
              <a:t>The Solution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BAD7C-9B86-6279-E0FB-54FCE2C87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Introducing Sentinel Node</a:t>
            </a:r>
            <a:br>
              <a:rPr lang="en-US" dirty="0"/>
            </a:br>
            <a:r>
              <a:rPr lang="en-US" i="1" dirty="0"/>
              <a:t>An Autonomous Edge Defense System</a:t>
            </a:r>
            <a:endParaRPr lang="en-US" dirty="0"/>
          </a:p>
          <a:p>
            <a:r>
              <a:rPr lang="en-US" b="1" dirty="0"/>
              <a:t>Edge Layer:</a:t>
            </a:r>
            <a:r>
              <a:rPr lang="en-US" dirty="0"/>
              <a:t> ESP32 microcontroller. Runs local anomaly detection logic.</a:t>
            </a:r>
            <a:br>
              <a:rPr lang="en-US" dirty="0"/>
            </a:br>
            <a:r>
              <a:rPr lang="en-US" b="1" dirty="0"/>
              <a:t>Sensing Layer:</a:t>
            </a:r>
            <a:r>
              <a:rPr lang="en-US" dirty="0"/>
              <a:t> Ultrasonic sensor for water level monitoring.</a:t>
            </a:r>
            <a:br>
              <a:rPr lang="en-US" dirty="0"/>
            </a:br>
            <a:r>
              <a:rPr lang="en-US" b="1" dirty="0"/>
              <a:t>Actuation Layer:</a:t>
            </a:r>
            <a:r>
              <a:rPr lang="en-US" dirty="0"/>
              <a:t> Relay triggering a 12V bypass pump and warning siren.</a:t>
            </a:r>
            <a:br>
              <a:rPr lang="en-US" dirty="0"/>
            </a:br>
            <a:r>
              <a:rPr lang="en-US" b="1" dirty="0"/>
              <a:t>Digital Twin Layer:</a:t>
            </a:r>
            <a:r>
              <a:rPr lang="en-US" dirty="0"/>
              <a:t> Live 3D volumetric representation updating in real-time.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06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B2B14-6209-EE70-5B67-FBF188A3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The Gap Sentinel Node Fills</a:t>
            </a:r>
            <a:br>
              <a:rPr lang="en-US" b="1" dirty="0"/>
            </a:br>
            <a:br>
              <a:rPr lang="en-US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8CB22-E791-5BCA-8AA7-619014A19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An Autonomous Edge Node:</a:t>
            </a:r>
            <a:r>
              <a:rPr lang="en-US" dirty="0"/>
              <a:t> Processes sensor data locally. Acts in </a:t>
            </a:r>
            <a:r>
              <a:rPr lang="en-US" b="1" dirty="0"/>
              <a:t>milliseconds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The Logic:</a:t>
            </a:r>
            <a:r>
              <a:rPr lang="en-US" dirty="0"/>
              <a:t> Detects anomalous water rise (rate-of-change, not just level).</a:t>
            </a:r>
          </a:p>
          <a:p>
            <a:pPr lvl="0"/>
            <a:r>
              <a:rPr lang="en-US" b="1" dirty="0"/>
              <a:t>The Action:</a:t>
            </a:r>
            <a:r>
              <a:rPr lang="en-US" dirty="0"/>
              <a:t> Instantly triggers a bypass pump and warning siren.</a:t>
            </a:r>
          </a:p>
          <a:p>
            <a:pPr lvl="0"/>
            <a:r>
              <a:rPr lang="en-US" b="1" dirty="0"/>
              <a:t>The Visibility:</a:t>
            </a:r>
            <a:r>
              <a:rPr lang="en-US" dirty="0"/>
              <a:t> Updates a live 3D digital twin for remote operators.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23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D4DE-8EAD-8D8B-A340-04F726B58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It Works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CE48-A80A-D333-468E-8BE4AAFB3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Edge Processing:</a:t>
            </a:r>
            <a:r>
              <a:rPr lang="en-US" dirty="0"/>
              <a:t> Local logic for instant decisions. No cloud dependency.</a:t>
            </a:r>
          </a:p>
          <a:p>
            <a:pPr lvl="0"/>
            <a:r>
              <a:rPr lang="en-US" b="1" dirty="0"/>
              <a:t>Sensor Fusion:</a:t>
            </a:r>
            <a:r>
              <a:rPr lang="en-US" dirty="0"/>
              <a:t>  Combining data for reliability.</a:t>
            </a:r>
          </a:p>
          <a:p>
            <a:pPr lvl="0"/>
            <a:r>
              <a:rPr lang="en-US" b="1" dirty="0"/>
              <a:t>Fail-Safe Design:</a:t>
            </a:r>
            <a:r>
              <a:rPr lang="en-US" dirty="0"/>
              <a:t> Functions even if network connectivity is lost.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500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4F39-7511-895F-C229-C21D6E07B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3D Digital Twin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E3188-B1F3-DE9D-3A35-C4009613F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Live Volumetric Representation:</a:t>
            </a:r>
            <a:r>
              <a:rPr lang="en-US" dirty="0"/>
              <a:t> Real-time sync with the physical node.</a:t>
            </a:r>
          </a:p>
          <a:p>
            <a:pPr lvl="0"/>
            <a:r>
              <a:rPr lang="en-US" b="1" dirty="0"/>
              <a:t>Visual Alerts:</a:t>
            </a:r>
            <a:r>
              <a:rPr lang="en-US" dirty="0"/>
              <a:t> Dam turns red when anomaly detected.</a:t>
            </a:r>
          </a:p>
          <a:p>
            <a:pPr lvl="0"/>
            <a:r>
              <a:rPr lang="en-US" b="1" dirty="0"/>
              <a:t>Action Confirmation:</a:t>
            </a:r>
            <a:r>
              <a:rPr lang="en-US" dirty="0"/>
              <a:t> Visually confirms the bypass pump is active.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759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3F4F-BDAD-8FA6-D303-187CDF2A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Addressing the Flaws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24C7A-9A28-86C1-1722-310F77638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Addressing Limitations:</a:t>
            </a:r>
            <a:endParaRPr lang="en-US" dirty="0"/>
          </a:p>
          <a:p>
            <a:pPr lvl="0"/>
            <a:r>
              <a:rPr lang="en-US" dirty="0"/>
              <a:t>Redundancy: Mesh of nodes, not just one.</a:t>
            </a:r>
          </a:p>
          <a:p>
            <a:pPr lvl="0"/>
            <a:r>
              <a:rPr lang="en-US" dirty="0"/>
              <a:t>Sensor Reliability: Sensor fusion + moving average filters.</a:t>
            </a:r>
          </a:p>
          <a:p>
            <a:pPr lvl="0"/>
            <a:r>
              <a:rPr lang="en-US" dirty="0"/>
              <a:t>Power Resilience: Battery backup / Solar.</a:t>
            </a:r>
          </a:p>
          <a:p>
            <a:r>
              <a:rPr lang="en-US" b="1" dirty="0"/>
              <a:t>Scalable:</a:t>
            </a:r>
            <a:r>
              <a:rPr lang="en-US" dirty="0"/>
              <a:t> Low-cost hardware. Can cover an entire dam perimeter.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47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Sentinel Node</vt:lpstr>
      <vt:lpstr>The Problem  </vt:lpstr>
      <vt:lpstr>  The Solution  </vt:lpstr>
      <vt:lpstr>  The Gap Sentinel Node Fills   </vt:lpstr>
      <vt:lpstr>How It Works </vt:lpstr>
      <vt:lpstr>The 3D Digital Twin </vt:lpstr>
      <vt:lpstr>Addressing the Flaws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Pulane Somo</dc:creator>
  <cp:lastModifiedBy>Pulane Somo</cp:lastModifiedBy>
  <cp:revision>1</cp:revision>
  <dcterms:created xsi:type="dcterms:W3CDTF">2026-09-17T20:41:13Z</dcterms:created>
  <dcterms:modified xsi:type="dcterms:W3CDTF">2026-09-17T20:41:58Z</dcterms:modified>
</cp:coreProperties>
</file>