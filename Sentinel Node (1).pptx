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37"/>
            <a:ext cx="12191980" cy="68579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984" y="-1"/>
            <a:ext cx="608901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038848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6102985" cy="6858000"/>
          </a:xfrm>
          <a:custGeom>
            <a:avLst/>
            <a:gdLst/>
            <a:ahLst/>
            <a:cxnLst/>
            <a:rect l="l" t="t" r="r" b="b"/>
            <a:pathLst>
              <a:path w="6102985" h="6858000">
                <a:moveTo>
                  <a:pt x="6102985" y="0"/>
                </a:moveTo>
                <a:lnTo>
                  <a:pt x="0" y="0"/>
                </a:lnTo>
                <a:lnTo>
                  <a:pt x="0" y="6858000"/>
                </a:lnTo>
                <a:lnTo>
                  <a:pt x="6102985" y="6858000"/>
                </a:lnTo>
                <a:lnTo>
                  <a:pt x="6102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6096762" cy="246964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6102985" cy="2286000"/>
          </a:xfrm>
          <a:custGeom>
            <a:avLst/>
            <a:gdLst/>
            <a:ahLst/>
            <a:cxnLst/>
            <a:rect l="l" t="t" r="r" b="b"/>
            <a:pathLst>
              <a:path w="6102985" h="2286000">
                <a:moveTo>
                  <a:pt x="6102985" y="0"/>
                </a:moveTo>
                <a:lnTo>
                  <a:pt x="0" y="0"/>
                </a:lnTo>
                <a:lnTo>
                  <a:pt x="0" y="2286000"/>
                </a:lnTo>
                <a:lnTo>
                  <a:pt x="6102985" y="2286000"/>
                </a:lnTo>
                <a:lnTo>
                  <a:pt x="6102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0739" y="402793"/>
            <a:ext cx="4271645" cy="118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0739" y="2857881"/>
            <a:ext cx="4935220" cy="292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1346" y="2991688"/>
            <a:ext cx="4372610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75"/>
              <a:t>Sentinel</a:t>
            </a:r>
            <a:r>
              <a:rPr dirty="0" sz="6000" spc="-635"/>
              <a:t> </a:t>
            </a:r>
            <a:r>
              <a:rPr dirty="0" sz="6000" spc="-60"/>
              <a:t>Node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0739" y="956894"/>
            <a:ext cx="274447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35" b="1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pc="-41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50" b="1">
                <a:solidFill>
                  <a:srgbClr val="000000"/>
                </a:solidFill>
                <a:latin typeface="Trebuchet MS"/>
                <a:cs typeface="Trebuchet MS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357729"/>
            <a:ext cx="4869815" cy="347980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 spc="-90" b="1">
                <a:latin typeface="Trebuchet MS"/>
                <a:cs typeface="Trebuchet MS"/>
              </a:rPr>
              <a:t>The</a:t>
            </a:r>
            <a:r>
              <a:rPr dirty="0" sz="1700" spc="-155" b="1">
                <a:latin typeface="Trebuchet MS"/>
                <a:cs typeface="Trebuchet MS"/>
              </a:rPr>
              <a:t> </a:t>
            </a:r>
            <a:r>
              <a:rPr dirty="0" sz="1700" spc="-10" b="1">
                <a:latin typeface="Trebuchet MS"/>
                <a:cs typeface="Trebuchet MS"/>
              </a:rPr>
              <a:t>Threat:</a:t>
            </a:r>
            <a:endParaRPr sz="1700">
              <a:latin typeface="Trebuchet MS"/>
              <a:cs typeface="Trebuchet MS"/>
            </a:endParaRPr>
          </a:p>
          <a:p>
            <a:pPr marL="12700" marR="366395" indent="88265">
              <a:lnSpc>
                <a:spcPts val="1839"/>
              </a:lnSpc>
              <a:spcBef>
                <a:spcPts val="1019"/>
              </a:spcBef>
            </a:pPr>
            <a:r>
              <a:rPr dirty="0" sz="1700" spc="-55">
                <a:latin typeface="Trebuchet MS"/>
                <a:cs typeface="Trebuchet MS"/>
              </a:rPr>
              <a:t>-</a:t>
            </a:r>
            <a:r>
              <a:rPr dirty="0" sz="1700">
                <a:latin typeface="Trebuchet MS"/>
                <a:cs typeface="Trebuchet MS"/>
              </a:rPr>
              <a:t>Mpumalanga's</a:t>
            </a:r>
            <a:r>
              <a:rPr dirty="0" sz="1700" spc="-10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coal</a:t>
            </a:r>
            <a:r>
              <a:rPr dirty="0" sz="1700" spc="-95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power</a:t>
            </a:r>
            <a:r>
              <a:rPr dirty="0" sz="1700" spc="-100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stations</a:t>
            </a:r>
            <a:r>
              <a:rPr dirty="0" sz="1700" spc="-90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produce</a:t>
            </a:r>
            <a:r>
              <a:rPr dirty="0" sz="1700" spc="-80">
                <a:latin typeface="Trebuchet MS"/>
                <a:cs typeface="Trebuchet MS"/>
              </a:rPr>
              <a:t> </a:t>
            </a:r>
            <a:r>
              <a:rPr dirty="0" sz="1700" spc="-25" b="1">
                <a:latin typeface="Trebuchet MS"/>
                <a:cs typeface="Trebuchet MS"/>
              </a:rPr>
              <a:t>25 </a:t>
            </a:r>
            <a:r>
              <a:rPr dirty="0" sz="1700" spc="-20" b="1">
                <a:latin typeface="Trebuchet MS"/>
                <a:cs typeface="Trebuchet MS"/>
              </a:rPr>
              <a:t>million</a:t>
            </a:r>
            <a:r>
              <a:rPr dirty="0" sz="1700" spc="-135" b="1">
                <a:latin typeface="Trebuchet MS"/>
                <a:cs typeface="Trebuchet MS"/>
              </a:rPr>
              <a:t> </a:t>
            </a:r>
            <a:r>
              <a:rPr dirty="0" sz="1700" b="1">
                <a:latin typeface="Trebuchet MS"/>
                <a:cs typeface="Trebuchet MS"/>
              </a:rPr>
              <a:t>tons</a:t>
            </a:r>
            <a:r>
              <a:rPr dirty="0" sz="1700" spc="-105" b="1">
                <a:latin typeface="Trebuchet MS"/>
                <a:cs typeface="Trebuchet MS"/>
              </a:rPr>
              <a:t> </a:t>
            </a:r>
            <a:r>
              <a:rPr dirty="0" sz="1700" spc="-30" b="1">
                <a:latin typeface="Trebuchet MS"/>
                <a:cs typeface="Trebuchet MS"/>
              </a:rPr>
              <a:t>of</a:t>
            </a:r>
            <a:r>
              <a:rPr dirty="0" sz="1700" spc="-120" b="1">
                <a:latin typeface="Trebuchet MS"/>
                <a:cs typeface="Trebuchet MS"/>
              </a:rPr>
              <a:t> </a:t>
            </a:r>
            <a:r>
              <a:rPr dirty="0" sz="1700" spc="-50" b="1">
                <a:latin typeface="Trebuchet MS"/>
                <a:cs typeface="Trebuchet MS"/>
              </a:rPr>
              <a:t>toxic</a:t>
            </a:r>
            <a:r>
              <a:rPr dirty="0" sz="1700" spc="-110" b="1">
                <a:latin typeface="Trebuchet MS"/>
                <a:cs typeface="Trebuchet MS"/>
              </a:rPr>
              <a:t> </a:t>
            </a:r>
            <a:r>
              <a:rPr dirty="0" sz="1700" b="1">
                <a:latin typeface="Trebuchet MS"/>
                <a:cs typeface="Trebuchet MS"/>
              </a:rPr>
              <a:t>ash</a:t>
            </a:r>
            <a:r>
              <a:rPr dirty="0" sz="1700" spc="-110" b="1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annually.</a:t>
            </a:r>
            <a:endParaRPr sz="1700">
              <a:latin typeface="Trebuchet MS"/>
              <a:cs typeface="Trebuchet MS"/>
            </a:endParaRPr>
          </a:p>
          <a:p>
            <a:pPr marL="12700" marR="5080" indent="88265">
              <a:lnSpc>
                <a:spcPts val="1839"/>
              </a:lnSpc>
              <a:spcBef>
                <a:spcPts val="990"/>
              </a:spcBef>
            </a:pPr>
            <a:r>
              <a:rPr dirty="0" sz="1700" spc="-150">
                <a:latin typeface="Trebuchet MS"/>
                <a:cs typeface="Trebuchet MS"/>
              </a:rPr>
              <a:t>-</a:t>
            </a:r>
            <a:r>
              <a:rPr dirty="0" sz="1700" spc="-40">
                <a:latin typeface="Trebuchet MS"/>
                <a:cs typeface="Trebuchet MS"/>
              </a:rPr>
              <a:t>This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ash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is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mixed</a:t>
            </a:r>
            <a:r>
              <a:rPr dirty="0" sz="1700" spc="-140">
                <a:latin typeface="Trebuchet MS"/>
                <a:cs typeface="Trebuchet MS"/>
              </a:rPr>
              <a:t> </a:t>
            </a:r>
            <a:r>
              <a:rPr dirty="0" sz="1700" spc="-70">
                <a:latin typeface="Trebuchet MS"/>
                <a:cs typeface="Trebuchet MS"/>
              </a:rPr>
              <a:t>with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75">
                <a:latin typeface="Trebuchet MS"/>
                <a:cs typeface="Trebuchet MS"/>
              </a:rPr>
              <a:t>water</a:t>
            </a:r>
            <a:r>
              <a:rPr dirty="0" sz="1700" spc="-12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and</a:t>
            </a:r>
            <a:r>
              <a:rPr dirty="0" sz="1700" spc="-12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stored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in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massive, </a:t>
            </a:r>
            <a:r>
              <a:rPr dirty="0" sz="1700" spc="-40">
                <a:latin typeface="Trebuchet MS"/>
                <a:cs typeface="Trebuchet MS"/>
              </a:rPr>
              <a:t>high-hazard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dams.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700" spc="-90" b="1">
                <a:latin typeface="Trebuchet MS"/>
                <a:cs typeface="Trebuchet MS"/>
              </a:rPr>
              <a:t>The</a:t>
            </a:r>
            <a:r>
              <a:rPr dirty="0" sz="1700" spc="-155" b="1">
                <a:latin typeface="Trebuchet MS"/>
                <a:cs typeface="Trebuchet MS"/>
              </a:rPr>
              <a:t> </a:t>
            </a:r>
            <a:r>
              <a:rPr dirty="0" sz="1700" spc="-20" b="1">
                <a:latin typeface="Trebuchet MS"/>
                <a:cs typeface="Trebuchet MS"/>
              </a:rPr>
              <a:t>Risk:</a:t>
            </a:r>
            <a:endParaRPr sz="1700">
              <a:latin typeface="Trebuchet MS"/>
              <a:cs typeface="Trebuchet MS"/>
            </a:endParaRPr>
          </a:p>
          <a:p>
            <a:pPr marL="12700" marR="144145" indent="88265">
              <a:lnSpc>
                <a:spcPts val="1839"/>
              </a:lnSpc>
              <a:spcBef>
                <a:spcPts val="1019"/>
              </a:spcBef>
            </a:pPr>
            <a:r>
              <a:rPr dirty="0" sz="1700" spc="-55">
                <a:latin typeface="Trebuchet MS"/>
                <a:cs typeface="Trebuchet MS"/>
              </a:rPr>
              <a:t>-</a:t>
            </a:r>
            <a:r>
              <a:rPr dirty="0" sz="1700">
                <a:latin typeface="Trebuchet MS"/>
                <a:cs typeface="Trebuchet MS"/>
              </a:rPr>
              <a:t>Anomalous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75">
                <a:latin typeface="Trebuchet MS"/>
                <a:cs typeface="Trebuchet MS"/>
              </a:rPr>
              <a:t>water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rise</a:t>
            </a:r>
            <a:r>
              <a:rPr dirty="0" sz="1700" spc="-110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or</a:t>
            </a:r>
            <a:r>
              <a:rPr dirty="0" sz="1700" spc="-120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structural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60">
                <a:latin typeface="Trebuchet MS"/>
                <a:cs typeface="Trebuchet MS"/>
              </a:rPr>
              <a:t>failure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 spc="40">
                <a:latin typeface="Trebuchet MS"/>
                <a:cs typeface="Trebuchet MS"/>
              </a:rPr>
              <a:t>causes </a:t>
            </a:r>
            <a:r>
              <a:rPr dirty="0" sz="1700" spc="-25">
                <a:latin typeface="Trebuchet MS"/>
                <a:cs typeface="Trebuchet MS"/>
              </a:rPr>
              <a:t>catastrophic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breach.</a:t>
            </a:r>
            <a:endParaRPr sz="1700">
              <a:latin typeface="Trebuchet MS"/>
              <a:cs typeface="Trebuchet MS"/>
            </a:endParaRPr>
          </a:p>
          <a:p>
            <a:pPr marL="100965">
              <a:lnSpc>
                <a:spcPct val="100000"/>
              </a:lnSpc>
              <a:spcBef>
                <a:spcPts val="760"/>
              </a:spcBef>
            </a:pPr>
            <a:r>
              <a:rPr dirty="0" sz="1700" spc="-55">
                <a:latin typeface="Trebuchet MS"/>
                <a:cs typeface="Trebuchet MS"/>
              </a:rPr>
              <a:t>-</a:t>
            </a:r>
            <a:r>
              <a:rPr dirty="0" sz="1700">
                <a:latin typeface="Trebuchet MS"/>
                <a:cs typeface="Trebuchet MS"/>
              </a:rPr>
              <a:t>A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 spc="-50">
                <a:latin typeface="Trebuchet MS"/>
                <a:cs typeface="Trebuchet MS"/>
              </a:rPr>
              <a:t>wall</a:t>
            </a:r>
            <a:r>
              <a:rPr dirty="0" sz="1700" spc="-16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can</a:t>
            </a:r>
            <a:r>
              <a:rPr dirty="0" sz="1700" spc="-150">
                <a:latin typeface="Trebuchet MS"/>
                <a:cs typeface="Trebuchet MS"/>
              </a:rPr>
              <a:t> </a:t>
            </a:r>
            <a:r>
              <a:rPr dirty="0" sz="1700" spc="-55">
                <a:latin typeface="Trebuchet MS"/>
                <a:cs typeface="Trebuchet MS"/>
              </a:rPr>
              <a:t>liquefy</a:t>
            </a:r>
            <a:r>
              <a:rPr dirty="0" sz="1700" spc="-16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and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collapse</a:t>
            </a:r>
            <a:r>
              <a:rPr dirty="0" sz="1700" spc="-170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in</a:t>
            </a:r>
            <a:r>
              <a:rPr dirty="0" sz="1700" spc="-125">
                <a:latin typeface="Trebuchet MS"/>
                <a:cs typeface="Trebuchet MS"/>
              </a:rPr>
              <a:t> </a:t>
            </a:r>
            <a:r>
              <a:rPr dirty="0" sz="1700" spc="-10" b="1">
                <a:latin typeface="Trebuchet MS"/>
                <a:cs typeface="Trebuchet MS"/>
              </a:rPr>
              <a:t>minutes</a:t>
            </a:r>
            <a:r>
              <a:rPr dirty="0" sz="1700" spc="-1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241300" marR="191135" indent="-228600">
              <a:lnSpc>
                <a:spcPts val="1839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 spc="-90" b="1">
                <a:latin typeface="Trebuchet MS"/>
                <a:cs typeface="Trebuchet MS"/>
              </a:rPr>
              <a:t>The</a:t>
            </a:r>
            <a:r>
              <a:rPr dirty="0" sz="1700" spc="-80" b="1">
                <a:latin typeface="Trebuchet MS"/>
                <a:cs typeface="Trebuchet MS"/>
              </a:rPr>
              <a:t> </a:t>
            </a:r>
            <a:r>
              <a:rPr dirty="0" sz="1700" b="1">
                <a:latin typeface="Trebuchet MS"/>
                <a:cs typeface="Trebuchet MS"/>
              </a:rPr>
              <a:t>Consequence:</a:t>
            </a:r>
            <a:r>
              <a:rPr dirty="0" sz="1700" spc="-55" b="1">
                <a:latin typeface="Trebuchet MS"/>
                <a:cs typeface="Trebuchet MS"/>
              </a:rPr>
              <a:t> </a:t>
            </a:r>
            <a:r>
              <a:rPr dirty="0" sz="1700" spc="-45">
                <a:latin typeface="Trebuchet MS"/>
                <a:cs typeface="Trebuchet MS"/>
              </a:rPr>
              <a:t>Environmental</a:t>
            </a:r>
            <a:r>
              <a:rPr dirty="0" sz="1700" spc="-8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devastation, </a:t>
            </a:r>
            <a:r>
              <a:rPr dirty="0" sz="1700">
                <a:latin typeface="Trebuchet MS"/>
                <a:cs typeface="Trebuchet MS"/>
              </a:rPr>
              <a:t>poisoned</a:t>
            </a:r>
            <a:r>
              <a:rPr dirty="0" sz="1700" spc="-155">
                <a:latin typeface="Trebuchet MS"/>
                <a:cs typeface="Trebuchet MS"/>
              </a:rPr>
              <a:t> </a:t>
            </a:r>
            <a:r>
              <a:rPr dirty="0" sz="1700" spc="-75">
                <a:latin typeface="Trebuchet MS"/>
                <a:cs typeface="Trebuchet MS"/>
              </a:rPr>
              <a:t>water</a:t>
            </a:r>
            <a:r>
              <a:rPr dirty="0" sz="1700" spc="-15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systems,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and</a:t>
            </a:r>
            <a:r>
              <a:rPr dirty="0" sz="1700" spc="-140">
                <a:latin typeface="Trebuchet MS"/>
                <a:cs typeface="Trebuchet MS"/>
              </a:rPr>
              <a:t> </a:t>
            </a:r>
            <a:r>
              <a:rPr dirty="0" sz="1700" spc="-30">
                <a:latin typeface="Trebuchet MS"/>
                <a:cs typeface="Trebuchet MS"/>
              </a:rPr>
              <a:t>risk</a:t>
            </a:r>
            <a:r>
              <a:rPr dirty="0" sz="1700" spc="-145">
                <a:latin typeface="Trebuchet MS"/>
                <a:cs typeface="Trebuchet MS"/>
              </a:rPr>
              <a:t> </a:t>
            </a:r>
            <a:r>
              <a:rPr dirty="0" sz="1700" spc="-65">
                <a:latin typeface="Trebuchet MS"/>
                <a:cs typeface="Trebuchet MS"/>
              </a:rPr>
              <a:t>to</a:t>
            </a:r>
            <a:r>
              <a:rPr dirty="0" sz="1700" spc="-13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human</a:t>
            </a:r>
            <a:r>
              <a:rPr dirty="0" sz="1700" spc="-13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life.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9770" y="-3"/>
            <a:ext cx="5442585" cy="6858000"/>
            <a:chOff x="6749770" y="-3"/>
            <a:chExt cx="54425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9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-3"/>
              <a:ext cx="5334254" cy="6857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065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40" b="1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2800" spc="-28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800" spc="-90" b="1">
                <a:solidFill>
                  <a:srgbClr val="000000"/>
                </a:solidFill>
                <a:latin typeface="Trebuchet MS"/>
                <a:cs typeface="Trebuchet MS"/>
              </a:rPr>
              <a:t>Solution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pc="-30"/>
              <a:t>Introducing</a:t>
            </a:r>
            <a:r>
              <a:rPr dirty="0" spc="-150"/>
              <a:t> </a:t>
            </a:r>
            <a:r>
              <a:rPr dirty="0" spc="-20"/>
              <a:t>Sentinel</a:t>
            </a:r>
            <a:r>
              <a:rPr dirty="0" spc="-155"/>
              <a:t> </a:t>
            </a:r>
            <a:r>
              <a:rPr dirty="0" spc="-20"/>
              <a:t>Node</a:t>
            </a:r>
          </a:p>
          <a:p>
            <a:pPr marL="241300">
              <a:lnSpc>
                <a:spcPts val="2280"/>
              </a:lnSpc>
            </a:pPr>
            <a:r>
              <a:rPr dirty="0" spc="-35" b="0" i="1">
                <a:latin typeface="Trebuchet MS"/>
                <a:cs typeface="Trebuchet MS"/>
              </a:rPr>
              <a:t>An</a:t>
            </a:r>
            <a:r>
              <a:rPr dirty="0" spc="-155" b="0" i="1">
                <a:latin typeface="Trebuchet MS"/>
                <a:cs typeface="Trebuchet MS"/>
              </a:rPr>
              <a:t> </a:t>
            </a:r>
            <a:r>
              <a:rPr dirty="0" spc="-20" b="0" i="1">
                <a:latin typeface="Trebuchet MS"/>
                <a:cs typeface="Trebuchet MS"/>
              </a:rPr>
              <a:t>Autonomous</a:t>
            </a:r>
            <a:r>
              <a:rPr dirty="0" spc="-185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Edge</a:t>
            </a:r>
            <a:r>
              <a:rPr dirty="0" spc="-150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Defense</a:t>
            </a:r>
            <a:r>
              <a:rPr dirty="0" spc="-155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System</a:t>
            </a:r>
          </a:p>
          <a:p>
            <a:pPr marL="239395" indent="-226695">
              <a:lnSpc>
                <a:spcPts val="2280"/>
              </a:lnSpc>
              <a:spcBef>
                <a:spcPts val="76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pc="-20"/>
              <a:t>Edge</a:t>
            </a:r>
            <a:r>
              <a:rPr dirty="0" spc="-95"/>
              <a:t> </a:t>
            </a:r>
            <a:r>
              <a:rPr dirty="0" spc="-80"/>
              <a:t>Layer:</a:t>
            </a:r>
            <a:r>
              <a:rPr dirty="0" spc="-65"/>
              <a:t> </a:t>
            </a:r>
            <a:r>
              <a:rPr dirty="0" b="0">
                <a:latin typeface="Trebuchet MS"/>
                <a:cs typeface="Trebuchet MS"/>
              </a:rPr>
              <a:t>ESP32</a:t>
            </a:r>
            <a:r>
              <a:rPr dirty="0" spc="-105" b="0">
                <a:latin typeface="Trebuchet MS"/>
                <a:cs typeface="Trebuchet MS"/>
              </a:rPr>
              <a:t> </a:t>
            </a:r>
            <a:r>
              <a:rPr dirty="0" spc="-65" b="0">
                <a:latin typeface="Trebuchet MS"/>
                <a:cs typeface="Trebuchet MS"/>
              </a:rPr>
              <a:t>microcontroller.</a:t>
            </a:r>
            <a:r>
              <a:rPr dirty="0" spc="-114" b="0">
                <a:latin typeface="Trebuchet MS"/>
                <a:cs typeface="Trebuchet MS"/>
              </a:rPr>
              <a:t> </a:t>
            </a:r>
            <a:r>
              <a:rPr dirty="0" spc="35" b="0">
                <a:latin typeface="Trebuchet MS"/>
                <a:cs typeface="Trebuchet MS"/>
              </a:rPr>
              <a:t>Runs</a:t>
            </a:r>
          </a:p>
          <a:p>
            <a:pPr marL="241300">
              <a:lnSpc>
                <a:spcPts val="2160"/>
              </a:lnSpc>
            </a:pPr>
            <a:r>
              <a:rPr dirty="0" spc="-25" b="0">
                <a:latin typeface="Trebuchet MS"/>
                <a:cs typeface="Trebuchet MS"/>
              </a:rPr>
              <a:t>local</a:t>
            </a:r>
            <a:r>
              <a:rPr dirty="0" spc="-135" b="0">
                <a:latin typeface="Trebuchet MS"/>
                <a:cs typeface="Trebuchet MS"/>
              </a:rPr>
              <a:t> </a:t>
            </a:r>
            <a:r>
              <a:rPr dirty="0" spc="-20" b="0">
                <a:latin typeface="Trebuchet MS"/>
                <a:cs typeface="Trebuchet MS"/>
              </a:rPr>
              <a:t>anomaly</a:t>
            </a:r>
            <a:r>
              <a:rPr dirty="0" spc="-165" b="0">
                <a:latin typeface="Trebuchet MS"/>
                <a:cs typeface="Trebuchet MS"/>
              </a:rPr>
              <a:t> </a:t>
            </a:r>
            <a:r>
              <a:rPr dirty="0" spc="-50" b="0">
                <a:latin typeface="Trebuchet MS"/>
                <a:cs typeface="Trebuchet MS"/>
              </a:rPr>
              <a:t>detection</a:t>
            </a:r>
            <a:r>
              <a:rPr dirty="0" spc="-17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logic.</a:t>
            </a:r>
          </a:p>
          <a:p>
            <a:pPr marL="241300">
              <a:lnSpc>
                <a:spcPts val="2160"/>
              </a:lnSpc>
            </a:pPr>
            <a:r>
              <a:rPr dirty="0"/>
              <a:t>Sensing</a:t>
            </a:r>
            <a:r>
              <a:rPr dirty="0" spc="-100"/>
              <a:t> </a:t>
            </a:r>
            <a:r>
              <a:rPr dirty="0" spc="-80"/>
              <a:t>Layer:</a:t>
            </a:r>
            <a:r>
              <a:rPr dirty="0" spc="-65"/>
              <a:t> </a:t>
            </a:r>
            <a:r>
              <a:rPr dirty="0" spc="-25" b="0">
                <a:latin typeface="Trebuchet MS"/>
                <a:cs typeface="Trebuchet MS"/>
              </a:rPr>
              <a:t>Ultrasonic</a:t>
            </a:r>
            <a:r>
              <a:rPr dirty="0" spc="-1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sensor</a:t>
            </a:r>
            <a:r>
              <a:rPr dirty="0" spc="-100" b="0">
                <a:latin typeface="Trebuchet MS"/>
                <a:cs typeface="Trebuchet MS"/>
              </a:rPr>
              <a:t> </a:t>
            </a:r>
            <a:r>
              <a:rPr dirty="0" spc="-90" b="0">
                <a:latin typeface="Trebuchet MS"/>
                <a:cs typeface="Trebuchet MS"/>
              </a:rPr>
              <a:t>for</a:t>
            </a:r>
            <a:r>
              <a:rPr dirty="0" spc="-8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water</a:t>
            </a:r>
          </a:p>
          <a:p>
            <a:pPr marL="241300">
              <a:lnSpc>
                <a:spcPts val="2160"/>
              </a:lnSpc>
            </a:pPr>
            <a:r>
              <a:rPr dirty="0" spc="-75" b="0">
                <a:latin typeface="Trebuchet MS"/>
                <a:cs typeface="Trebuchet MS"/>
              </a:rPr>
              <a:t>level</a:t>
            </a:r>
            <a:r>
              <a:rPr dirty="0" spc="-15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monitoring.</a:t>
            </a:r>
          </a:p>
          <a:p>
            <a:pPr marL="241300" marR="416559">
              <a:lnSpc>
                <a:spcPts val="2160"/>
              </a:lnSpc>
              <a:spcBef>
                <a:spcPts val="150"/>
              </a:spcBef>
            </a:pPr>
            <a:r>
              <a:rPr dirty="0" spc="-30"/>
              <a:t>Actuation</a:t>
            </a:r>
            <a:r>
              <a:rPr dirty="0" spc="-160"/>
              <a:t> </a:t>
            </a:r>
            <a:r>
              <a:rPr dirty="0" spc="-80"/>
              <a:t>Layer:</a:t>
            </a:r>
            <a:r>
              <a:rPr dirty="0" spc="-140"/>
              <a:t> </a:t>
            </a:r>
            <a:r>
              <a:rPr dirty="0" spc="-40" b="0">
                <a:latin typeface="Trebuchet MS"/>
                <a:cs typeface="Trebuchet MS"/>
              </a:rPr>
              <a:t>Relay</a:t>
            </a:r>
            <a:r>
              <a:rPr dirty="0" spc="-140" b="0">
                <a:latin typeface="Trebuchet MS"/>
                <a:cs typeface="Trebuchet MS"/>
              </a:rPr>
              <a:t> </a:t>
            </a:r>
            <a:r>
              <a:rPr dirty="0" spc="-80" b="0">
                <a:latin typeface="Trebuchet MS"/>
                <a:cs typeface="Trebuchet MS"/>
              </a:rPr>
              <a:t>triggering</a:t>
            </a:r>
            <a:r>
              <a:rPr dirty="0" spc="-1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</a:t>
            </a:r>
            <a:r>
              <a:rPr dirty="0" spc="-150" b="0">
                <a:latin typeface="Trebuchet MS"/>
                <a:cs typeface="Trebuchet MS"/>
              </a:rPr>
              <a:t> </a:t>
            </a:r>
            <a:r>
              <a:rPr dirty="0" spc="-25" b="0">
                <a:latin typeface="Trebuchet MS"/>
                <a:cs typeface="Trebuchet MS"/>
              </a:rPr>
              <a:t>12V </a:t>
            </a:r>
            <a:r>
              <a:rPr dirty="0" b="0">
                <a:latin typeface="Trebuchet MS"/>
                <a:cs typeface="Trebuchet MS"/>
              </a:rPr>
              <a:t>bypass</a:t>
            </a:r>
            <a:r>
              <a:rPr dirty="0" spc="-1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pump</a:t>
            </a:r>
            <a:r>
              <a:rPr dirty="0" spc="-10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and</a:t>
            </a:r>
            <a:r>
              <a:rPr dirty="0" spc="-105" b="0">
                <a:latin typeface="Trebuchet MS"/>
                <a:cs typeface="Trebuchet MS"/>
              </a:rPr>
              <a:t> </a:t>
            </a:r>
            <a:r>
              <a:rPr dirty="0" spc="-50" b="0">
                <a:latin typeface="Trebuchet MS"/>
                <a:cs typeface="Trebuchet MS"/>
              </a:rPr>
              <a:t>warning</a:t>
            </a:r>
            <a:r>
              <a:rPr dirty="0" spc="-10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siren.</a:t>
            </a:r>
          </a:p>
          <a:p>
            <a:pPr marL="241300">
              <a:lnSpc>
                <a:spcPts val="2010"/>
              </a:lnSpc>
            </a:pPr>
            <a:r>
              <a:rPr dirty="0"/>
              <a:t>Digital</a:t>
            </a:r>
            <a:r>
              <a:rPr dirty="0" spc="-190"/>
              <a:t> </a:t>
            </a:r>
            <a:r>
              <a:rPr dirty="0" spc="-114"/>
              <a:t>Twin</a:t>
            </a:r>
            <a:r>
              <a:rPr dirty="0" spc="-175"/>
              <a:t> </a:t>
            </a:r>
            <a:r>
              <a:rPr dirty="0" spc="-80"/>
              <a:t>Layer:</a:t>
            </a:r>
            <a:r>
              <a:rPr dirty="0" spc="-160"/>
              <a:t> </a:t>
            </a:r>
            <a:r>
              <a:rPr dirty="0" spc="-70" b="0">
                <a:latin typeface="Trebuchet MS"/>
                <a:cs typeface="Trebuchet MS"/>
              </a:rPr>
              <a:t>Live</a:t>
            </a:r>
            <a:r>
              <a:rPr dirty="0" spc="-190" b="0">
                <a:latin typeface="Trebuchet MS"/>
                <a:cs typeface="Trebuchet MS"/>
              </a:rPr>
              <a:t> </a:t>
            </a:r>
            <a:r>
              <a:rPr dirty="0" spc="75" b="0">
                <a:latin typeface="Trebuchet MS"/>
                <a:cs typeface="Trebuchet MS"/>
              </a:rPr>
              <a:t>3D</a:t>
            </a:r>
            <a:r>
              <a:rPr dirty="0" spc="-18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volumetric</a:t>
            </a:r>
          </a:p>
          <a:p>
            <a:pPr marL="241300">
              <a:lnSpc>
                <a:spcPts val="2280"/>
              </a:lnSpc>
            </a:pPr>
            <a:r>
              <a:rPr dirty="0" spc="-55" b="0">
                <a:latin typeface="Trebuchet MS"/>
                <a:cs typeface="Trebuchet MS"/>
              </a:rPr>
              <a:t>representation</a:t>
            </a:r>
            <a:r>
              <a:rPr dirty="0" spc="-180" b="0">
                <a:latin typeface="Trebuchet MS"/>
                <a:cs typeface="Trebuchet MS"/>
              </a:rPr>
              <a:t> </a:t>
            </a:r>
            <a:r>
              <a:rPr dirty="0" spc="-40" b="0">
                <a:latin typeface="Trebuchet MS"/>
                <a:cs typeface="Trebuchet MS"/>
              </a:rPr>
              <a:t>updating</a:t>
            </a:r>
            <a:r>
              <a:rPr dirty="0" spc="-155" b="0">
                <a:latin typeface="Trebuchet MS"/>
                <a:cs typeface="Trebuchet MS"/>
              </a:rPr>
              <a:t> </a:t>
            </a:r>
            <a:r>
              <a:rPr dirty="0" spc="-50" b="0">
                <a:latin typeface="Trebuchet MS"/>
                <a:cs typeface="Trebuchet MS"/>
              </a:rPr>
              <a:t>in</a:t>
            </a:r>
            <a:r>
              <a:rPr dirty="0" spc="-130" b="0">
                <a:latin typeface="Trebuchet MS"/>
                <a:cs typeface="Trebuchet MS"/>
              </a:rPr>
              <a:t> </a:t>
            </a:r>
            <a:r>
              <a:rPr dirty="0" spc="-60" b="0">
                <a:latin typeface="Trebuchet MS"/>
                <a:cs typeface="Trebuchet MS"/>
              </a:rPr>
              <a:t>real-</a:t>
            </a:r>
            <a:r>
              <a:rPr dirty="0" spc="-10" b="0">
                <a:latin typeface="Trebuchet MS"/>
                <a:cs typeface="Trebuchet MS"/>
              </a:rPr>
              <a:t>time.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49770" y="-3"/>
            <a:ext cx="5442585" cy="6858000"/>
            <a:chOff x="6749770" y="-3"/>
            <a:chExt cx="5442585" cy="6858000"/>
          </a:xfrm>
        </p:grpSpPr>
        <p:pic>
          <p:nvPicPr>
            <p:cNvPr id="5" name="object 5" descr="Electronics protoboar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770" y="0"/>
              <a:ext cx="5442229" cy="6858000"/>
            </a:xfrm>
            <a:prstGeom prst="rect">
              <a:avLst/>
            </a:prstGeom>
          </p:spPr>
        </p:pic>
        <p:pic>
          <p:nvPicPr>
            <p:cNvPr id="6" name="object 6" descr="Electronics protoboar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745" y="-3"/>
              <a:ext cx="5334254" cy="6857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872109"/>
            <a:ext cx="23945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40" b="1">
                <a:latin typeface="Trebuchet MS"/>
                <a:cs typeface="Trebuchet MS"/>
              </a:rPr>
              <a:t>The</a:t>
            </a:r>
            <a:r>
              <a:rPr dirty="0" sz="1600" spc="-145" b="1">
                <a:latin typeface="Trebuchet MS"/>
                <a:cs typeface="Trebuchet MS"/>
              </a:rPr>
              <a:t> </a:t>
            </a:r>
            <a:r>
              <a:rPr dirty="0" sz="1600" spc="-50" b="1">
                <a:latin typeface="Trebuchet MS"/>
                <a:cs typeface="Trebuchet MS"/>
              </a:rPr>
              <a:t>Gap</a:t>
            </a:r>
            <a:r>
              <a:rPr dirty="0" sz="1600" spc="-114" b="1">
                <a:latin typeface="Trebuchet MS"/>
                <a:cs typeface="Trebuchet MS"/>
              </a:rPr>
              <a:t> </a:t>
            </a:r>
            <a:r>
              <a:rPr dirty="0" sz="1600" spc="-80" b="1">
                <a:latin typeface="Trebuchet MS"/>
                <a:cs typeface="Trebuchet MS"/>
              </a:rPr>
              <a:t>Sentinel</a:t>
            </a:r>
            <a:r>
              <a:rPr dirty="0" sz="1600" spc="-120" b="1">
                <a:latin typeface="Trebuchet MS"/>
                <a:cs typeface="Trebuchet MS"/>
              </a:rPr>
              <a:t> </a:t>
            </a:r>
            <a:r>
              <a:rPr dirty="0" sz="1600" spc="-55" b="1">
                <a:latin typeface="Trebuchet MS"/>
                <a:cs typeface="Trebuchet MS"/>
              </a:rPr>
              <a:t>Node</a:t>
            </a:r>
            <a:r>
              <a:rPr dirty="0" sz="1600" spc="-12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Fills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884677"/>
            <a:ext cx="4481830" cy="2907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35" b="1">
                <a:latin typeface="Trebuchet MS"/>
                <a:cs typeface="Trebuchet MS"/>
              </a:rPr>
              <a:t>An</a:t>
            </a:r>
            <a:r>
              <a:rPr dirty="0" sz="2000" spc="-19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Autonomous</a:t>
            </a:r>
            <a:r>
              <a:rPr dirty="0" sz="2000" spc="-185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Edge</a:t>
            </a:r>
            <a:endParaRPr sz="2000">
              <a:latin typeface="Trebuchet MS"/>
              <a:cs typeface="Trebuchet MS"/>
            </a:endParaRPr>
          </a:p>
          <a:p>
            <a:pPr marL="241300" marR="175895">
              <a:lnSpc>
                <a:spcPts val="2160"/>
              </a:lnSpc>
              <a:spcBef>
                <a:spcPts val="150"/>
              </a:spcBef>
            </a:pPr>
            <a:r>
              <a:rPr dirty="0" sz="2000" spc="-25" b="1">
                <a:latin typeface="Trebuchet MS"/>
                <a:cs typeface="Trebuchet MS"/>
              </a:rPr>
              <a:t>Node:</a:t>
            </a:r>
            <a:r>
              <a:rPr dirty="0" sz="2000" spc="-40" b="1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Processes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sensor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data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locally. </a:t>
            </a:r>
            <a:r>
              <a:rPr dirty="0" sz="2000">
                <a:latin typeface="Trebuchet MS"/>
                <a:cs typeface="Trebuchet MS"/>
              </a:rPr>
              <a:t>Acts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in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milliseconds</a:t>
            </a:r>
            <a:r>
              <a:rPr dirty="0" sz="2000" spc="-1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algn="ctr" marL="226695" marR="187325" indent="-226695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 sz="2000" spc="-105" b="1">
                <a:latin typeface="Trebuchet MS"/>
                <a:cs typeface="Trebuchet MS"/>
              </a:rPr>
              <a:t>The</a:t>
            </a:r>
            <a:r>
              <a:rPr dirty="0" sz="2000" spc="-125" b="1">
                <a:latin typeface="Trebuchet MS"/>
                <a:cs typeface="Trebuchet MS"/>
              </a:rPr>
              <a:t> </a:t>
            </a:r>
            <a:r>
              <a:rPr dirty="0" sz="2000" spc="-35" b="1">
                <a:latin typeface="Trebuchet MS"/>
                <a:cs typeface="Trebuchet MS"/>
              </a:rPr>
              <a:t>Logic:</a:t>
            </a:r>
            <a:r>
              <a:rPr dirty="0" sz="2000" spc="-105" b="1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Detects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anomalous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water</a:t>
            </a:r>
            <a:endParaRPr sz="2000">
              <a:latin typeface="Trebuchet MS"/>
              <a:cs typeface="Trebuchet MS"/>
            </a:endParaRPr>
          </a:p>
          <a:p>
            <a:pPr algn="ctr" marR="196215">
              <a:lnSpc>
                <a:spcPts val="2280"/>
              </a:lnSpc>
            </a:pPr>
            <a:r>
              <a:rPr dirty="0" sz="2000" spc="-30">
                <a:latin typeface="Trebuchet MS"/>
                <a:cs typeface="Trebuchet MS"/>
              </a:rPr>
              <a:t>rise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95">
                <a:latin typeface="Trebuchet MS"/>
                <a:cs typeface="Trebuchet MS"/>
              </a:rPr>
              <a:t>(rate-</a:t>
            </a:r>
            <a:r>
              <a:rPr dirty="0" sz="2000" spc="-70">
                <a:latin typeface="Trebuchet MS"/>
                <a:cs typeface="Trebuchet MS"/>
              </a:rPr>
              <a:t>of-</a:t>
            </a:r>
            <a:r>
              <a:rPr dirty="0" sz="2000" spc="-45">
                <a:latin typeface="Trebuchet MS"/>
                <a:cs typeface="Trebuchet MS"/>
              </a:rPr>
              <a:t>change,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not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just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level).</a:t>
            </a:r>
            <a:endParaRPr sz="2000">
              <a:latin typeface="Trebuchet MS"/>
              <a:cs typeface="Trebuchet MS"/>
            </a:endParaRPr>
          </a:p>
          <a:p>
            <a:pPr marL="239395" marR="48260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5" b="1">
                <a:latin typeface="Trebuchet MS"/>
                <a:cs typeface="Trebuchet MS"/>
              </a:rPr>
              <a:t>The</a:t>
            </a:r>
            <a:r>
              <a:rPr dirty="0" sz="2000" spc="-160" b="1">
                <a:latin typeface="Trebuchet MS"/>
                <a:cs typeface="Trebuchet MS"/>
              </a:rPr>
              <a:t> </a:t>
            </a:r>
            <a:r>
              <a:rPr dirty="0" sz="2000" spc="-45" b="1">
                <a:latin typeface="Trebuchet MS"/>
                <a:cs typeface="Trebuchet MS"/>
              </a:rPr>
              <a:t>Action:</a:t>
            </a:r>
            <a:r>
              <a:rPr dirty="0" sz="2000" spc="-165" b="1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Instantly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 spc="-65">
                <a:latin typeface="Trebuchet MS"/>
                <a:cs typeface="Trebuchet MS"/>
              </a:rPr>
              <a:t>triggers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bypass </a:t>
            </a:r>
            <a:r>
              <a:rPr dirty="0" sz="2000" spc="-10">
                <a:latin typeface="Trebuchet MS"/>
                <a:cs typeface="Trebuchet MS"/>
              </a:rPr>
              <a:t>	</a:t>
            </a:r>
            <a:r>
              <a:rPr dirty="0" sz="2000">
                <a:latin typeface="Trebuchet MS"/>
                <a:cs typeface="Trebuchet MS"/>
              </a:rPr>
              <a:t>pump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and</a:t>
            </a:r>
            <a:r>
              <a:rPr dirty="0" sz="2000" spc="-130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warning</a:t>
            </a:r>
            <a:r>
              <a:rPr dirty="0" sz="2000" spc="-1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siren.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5" b="1">
                <a:latin typeface="Trebuchet MS"/>
                <a:cs typeface="Trebuchet MS"/>
              </a:rPr>
              <a:t>The</a:t>
            </a:r>
            <a:r>
              <a:rPr dirty="0" sz="2000" spc="-175" b="1">
                <a:latin typeface="Trebuchet MS"/>
                <a:cs typeface="Trebuchet MS"/>
              </a:rPr>
              <a:t> </a:t>
            </a:r>
            <a:r>
              <a:rPr dirty="0" sz="2000" spc="-45" b="1">
                <a:latin typeface="Trebuchet MS"/>
                <a:cs typeface="Trebuchet MS"/>
              </a:rPr>
              <a:t>Visibility:</a:t>
            </a:r>
            <a:r>
              <a:rPr dirty="0" sz="2000" spc="-150" b="1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Updates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live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75">
                <a:latin typeface="Trebuchet MS"/>
                <a:cs typeface="Trebuchet MS"/>
              </a:rPr>
              <a:t>3D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digital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dirty="0" sz="2000" spc="-80">
                <a:latin typeface="Trebuchet MS"/>
                <a:cs typeface="Trebuchet MS"/>
              </a:rPr>
              <a:t>twin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90">
                <a:latin typeface="Trebuchet MS"/>
                <a:cs typeface="Trebuchet MS"/>
              </a:rPr>
              <a:t>for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remote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operators.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 descr="A 3D pattern of ring shapes connected by line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2984" y="-1"/>
              <a:ext cx="6089015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38848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102985" cy="6858000"/>
            </a:xfrm>
            <a:custGeom>
              <a:avLst/>
              <a:gdLst/>
              <a:ahLst/>
              <a:cxnLst/>
              <a:rect l="l" t="t" r="r" b="b"/>
              <a:pathLst>
                <a:path w="6102985" h="6858000">
                  <a:moveTo>
                    <a:pt x="610298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102985" y="6858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096762" cy="24696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6102985" cy="2286000"/>
            </a:xfrm>
            <a:custGeom>
              <a:avLst/>
              <a:gdLst/>
              <a:ahLst/>
              <a:cxnLst/>
              <a:rect l="l" t="t" r="r" b="b"/>
              <a:pathLst>
                <a:path w="6102985" h="2286000">
                  <a:moveTo>
                    <a:pt x="610298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102985" y="2286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 b="1">
                <a:solidFill>
                  <a:srgbClr val="000000"/>
                </a:solidFill>
                <a:latin typeface="Trebuchet MS"/>
                <a:cs typeface="Trebuchet MS"/>
              </a:rPr>
              <a:t>How</a:t>
            </a:r>
            <a:r>
              <a:rPr dirty="0" spc="-42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70" b="1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dirty="0" spc="-40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85" b="1">
                <a:solidFill>
                  <a:srgbClr val="000000"/>
                </a:solidFill>
                <a:latin typeface="Trebuchet MS"/>
                <a:cs typeface="Trebuchet MS"/>
              </a:rPr>
              <a:t>Works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0739" y="3222193"/>
            <a:ext cx="4170045" cy="22326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9395" marR="367665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20" b="1">
                <a:latin typeface="Trebuchet MS"/>
                <a:cs typeface="Trebuchet MS"/>
              </a:rPr>
              <a:t>Edge</a:t>
            </a:r>
            <a:r>
              <a:rPr dirty="0" sz="2000" spc="-17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Processing:</a:t>
            </a:r>
            <a:r>
              <a:rPr dirty="0" sz="2000" spc="-155" b="1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Local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logic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for </a:t>
            </a:r>
            <a:r>
              <a:rPr dirty="0" sz="2000" spc="-30">
                <a:latin typeface="Trebuchet MS"/>
                <a:cs typeface="Trebuchet MS"/>
              </a:rPr>
              <a:t>	</a:t>
            </a:r>
            <a:r>
              <a:rPr dirty="0" sz="2000" spc="-40">
                <a:latin typeface="Trebuchet MS"/>
                <a:cs typeface="Trebuchet MS"/>
              </a:rPr>
              <a:t>instant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decisions.</a:t>
            </a:r>
            <a:r>
              <a:rPr dirty="0" sz="2000" spc="-185">
                <a:latin typeface="Trebuchet MS"/>
                <a:cs typeface="Trebuchet MS"/>
              </a:rPr>
              <a:t> </a:t>
            </a:r>
            <a:r>
              <a:rPr dirty="0" sz="2000" spc="80">
                <a:latin typeface="Trebuchet MS"/>
                <a:cs typeface="Trebuchet MS"/>
              </a:rPr>
              <a:t>No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cloud 	dependency.</a:t>
            </a:r>
            <a:endParaRPr sz="2000">
              <a:latin typeface="Trebuchet MS"/>
              <a:cs typeface="Trebuchet MS"/>
            </a:endParaRPr>
          </a:p>
          <a:p>
            <a:pPr marL="239395" marR="5080" indent="-226695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Trebuchet MS"/>
                <a:cs typeface="Trebuchet MS"/>
              </a:rPr>
              <a:t>Sensor</a:t>
            </a:r>
            <a:r>
              <a:rPr dirty="0" sz="2000" spc="-18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Fusion:</a:t>
            </a:r>
            <a:r>
              <a:rPr dirty="0" sz="2000" spc="240" b="1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Combining</a:t>
            </a:r>
            <a:r>
              <a:rPr dirty="0" sz="2000" spc="-204">
                <a:latin typeface="Trebuchet MS"/>
                <a:cs typeface="Trebuchet MS"/>
              </a:rPr>
              <a:t> </a:t>
            </a:r>
            <a:r>
              <a:rPr dirty="0" sz="2000" spc="-40">
                <a:latin typeface="Trebuchet MS"/>
                <a:cs typeface="Trebuchet MS"/>
              </a:rPr>
              <a:t>data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for </a:t>
            </a:r>
            <a:r>
              <a:rPr dirty="0" sz="2000" spc="-25">
                <a:latin typeface="Trebuchet MS"/>
                <a:cs typeface="Trebuchet MS"/>
              </a:rPr>
              <a:t>	</a:t>
            </a:r>
            <a:r>
              <a:rPr dirty="0" sz="2000" spc="-20">
                <a:latin typeface="Trebuchet MS"/>
                <a:cs typeface="Trebuchet MS"/>
              </a:rPr>
              <a:t>reliability.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3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50" b="1">
                <a:latin typeface="Trebuchet MS"/>
                <a:cs typeface="Trebuchet MS"/>
              </a:rPr>
              <a:t>Fail-</a:t>
            </a:r>
            <a:r>
              <a:rPr dirty="0" sz="2000" b="1">
                <a:latin typeface="Trebuchet MS"/>
                <a:cs typeface="Trebuchet MS"/>
              </a:rPr>
              <a:t>Safe</a:t>
            </a:r>
            <a:r>
              <a:rPr dirty="0" sz="2000" spc="-18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Design:</a:t>
            </a:r>
            <a:r>
              <a:rPr dirty="0" sz="2000" spc="-135" b="1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Functions</a:t>
            </a:r>
            <a:r>
              <a:rPr dirty="0" sz="2000" spc="-185">
                <a:latin typeface="Trebuchet MS"/>
                <a:cs typeface="Trebuchet MS"/>
              </a:rPr>
              <a:t> </a:t>
            </a:r>
            <a:r>
              <a:rPr dirty="0" sz="2000" spc="-40">
                <a:latin typeface="Trebuchet MS"/>
                <a:cs typeface="Trebuchet MS"/>
              </a:rPr>
              <a:t>even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if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dirty="0" sz="2000" spc="-60">
                <a:latin typeface="Trebuchet MS"/>
                <a:cs typeface="Trebuchet MS"/>
              </a:rPr>
              <a:t>network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connectivity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is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lost.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2984" y="-2"/>
              <a:ext cx="6089015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38848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102985" cy="6858000"/>
            </a:xfrm>
            <a:custGeom>
              <a:avLst/>
              <a:gdLst/>
              <a:ahLst/>
              <a:cxnLst/>
              <a:rect l="l" t="t" r="r" b="b"/>
              <a:pathLst>
                <a:path w="6102985" h="6858000">
                  <a:moveTo>
                    <a:pt x="610298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102985" y="6858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096762" cy="24696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6102985" cy="2286000"/>
            </a:xfrm>
            <a:custGeom>
              <a:avLst/>
              <a:gdLst/>
              <a:ahLst/>
              <a:cxnLst/>
              <a:rect l="l" t="t" r="r" b="b"/>
              <a:pathLst>
                <a:path w="6102985" h="2286000">
                  <a:moveTo>
                    <a:pt x="6102985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102985" y="2286000"/>
                  </a:lnTo>
                  <a:lnTo>
                    <a:pt x="6102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35" b="1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pc="-40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55" b="1">
                <a:solidFill>
                  <a:srgbClr val="000000"/>
                </a:solidFill>
                <a:latin typeface="Trebuchet MS"/>
                <a:cs typeface="Trebuchet MS"/>
              </a:rPr>
              <a:t>3D</a:t>
            </a:r>
            <a:r>
              <a:rPr dirty="0" spc="-40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145" b="1">
                <a:solidFill>
                  <a:srgbClr val="000000"/>
                </a:solidFill>
                <a:latin typeface="Trebuchet MS"/>
                <a:cs typeface="Trebuchet MS"/>
              </a:rPr>
              <a:t>Digital</a:t>
            </a:r>
            <a:r>
              <a:rPr dirty="0" spc="-40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pc="-335" b="1">
                <a:solidFill>
                  <a:srgbClr val="000000"/>
                </a:solidFill>
                <a:latin typeface="Trebuchet MS"/>
                <a:cs typeface="Trebuchet MS"/>
              </a:rPr>
              <a:t>Twin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0739" y="3222193"/>
            <a:ext cx="4312920" cy="2232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80" b="1">
                <a:latin typeface="Trebuchet MS"/>
                <a:cs typeface="Trebuchet MS"/>
              </a:rPr>
              <a:t>Live</a:t>
            </a:r>
            <a:r>
              <a:rPr dirty="0" sz="2000" spc="-15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Volumetric</a:t>
            </a:r>
            <a:endParaRPr sz="2000">
              <a:latin typeface="Trebuchet MS"/>
              <a:cs typeface="Trebuchet MS"/>
            </a:endParaRPr>
          </a:p>
          <a:p>
            <a:pPr marL="241300" marR="5080">
              <a:lnSpc>
                <a:spcPts val="2160"/>
              </a:lnSpc>
              <a:spcBef>
                <a:spcPts val="155"/>
              </a:spcBef>
            </a:pPr>
            <a:r>
              <a:rPr dirty="0" sz="2000" spc="-40" b="1">
                <a:latin typeface="Trebuchet MS"/>
                <a:cs typeface="Trebuchet MS"/>
              </a:rPr>
              <a:t>Representation:</a:t>
            </a:r>
            <a:r>
              <a:rPr dirty="0" sz="2000" spc="-130" b="1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Real-</a:t>
            </a:r>
            <a:r>
              <a:rPr dirty="0" sz="2000" spc="-70">
                <a:latin typeface="Trebuchet MS"/>
                <a:cs typeface="Trebuchet MS"/>
              </a:rPr>
              <a:t>time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sync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with </a:t>
            </a:r>
            <a:r>
              <a:rPr dirty="0" sz="2000" spc="-65">
                <a:latin typeface="Trebuchet MS"/>
                <a:cs typeface="Trebuchet MS"/>
              </a:rPr>
              <a:t>the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physical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node.</a:t>
            </a:r>
            <a:endParaRPr sz="2000">
              <a:latin typeface="Trebuchet MS"/>
              <a:cs typeface="Trebuchet MS"/>
            </a:endParaRPr>
          </a:p>
          <a:p>
            <a:pPr marL="239395" marR="263525" indent="-226695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Trebuchet MS"/>
                <a:cs typeface="Trebuchet MS"/>
              </a:rPr>
              <a:t>Visual</a:t>
            </a:r>
            <a:r>
              <a:rPr dirty="0" sz="2000" spc="-170" b="1">
                <a:latin typeface="Trebuchet MS"/>
                <a:cs typeface="Trebuchet MS"/>
              </a:rPr>
              <a:t> </a:t>
            </a:r>
            <a:r>
              <a:rPr dirty="0" sz="2000" spc="-40" b="1">
                <a:latin typeface="Trebuchet MS"/>
                <a:cs typeface="Trebuchet MS"/>
              </a:rPr>
              <a:t>Alerts:</a:t>
            </a:r>
            <a:r>
              <a:rPr dirty="0" sz="2000" spc="-170" b="1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Dam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turns</a:t>
            </a:r>
            <a:r>
              <a:rPr dirty="0" sz="2000" spc="-145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red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when </a:t>
            </a:r>
            <a:r>
              <a:rPr dirty="0" sz="2000" spc="-20">
                <a:latin typeface="Trebuchet MS"/>
                <a:cs typeface="Trebuchet MS"/>
              </a:rPr>
              <a:t>	</a:t>
            </a:r>
            <a:r>
              <a:rPr dirty="0" sz="2000" spc="-15">
                <a:latin typeface="Trebuchet MS"/>
                <a:cs typeface="Trebuchet MS"/>
              </a:rPr>
              <a:t>anomaly</a:t>
            </a:r>
            <a:r>
              <a:rPr dirty="0" sz="2000" spc="-2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detected.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3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25" b="1">
                <a:latin typeface="Trebuchet MS"/>
                <a:cs typeface="Trebuchet MS"/>
              </a:rPr>
              <a:t>Action</a:t>
            </a:r>
            <a:r>
              <a:rPr dirty="0" sz="2000" spc="-160" b="1">
                <a:latin typeface="Trebuchet MS"/>
                <a:cs typeface="Trebuchet MS"/>
              </a:rPr>
              <a:t> </a:t>
            </a:r>
            <a:r>
              <a:rPr dirty="0" sz="2000" spc="-30" b="1">
                <a:latin typeface="Trebuchet MS"/>
                <a:cs typeface="Trebuchet MS"/>
              </a:rPr>
              <a:t>Confirmation:</a:t>
            </a:r>
            <a:r>
              <a:rPr dirty="0" sz="2000" spc="-155" b="1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Visually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latin typeface="Trebuchet MS"/>
                <a:cs typeface="Trebuchet MS"/>
              </a:rPr>
              <a:t>confirms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65">
                <a:latin typeface="Trebuchet MS"/>
                <a:cs typeface="Trebuchet MS"/>
              </a:rPr>
              <a:t>the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bypass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pump</a:t>
            </a:r>
            <a:r>
              <a:rPr dirty="0" sz="2000" spc="-1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is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active.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522970" cy="2736850"/>
            <a:chOff x="0" y="0"/>
            <a:chExt cx="8522970" cy="2736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355934" cy="27363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522970" cy="2286000"/>
            </a:xfrm>
            <a:custGeom>
              <a:avLst/>
              <a:gdLst/>
              <a:ahLst/>
              <a:cxnLst/>
              <a:rect l="l" t="t" r="r" b="b"/>
              <a:pathLst>
                <a:path w="8522970" h="2286000">
                  <a:moveTo>
                    <a:pt x="8522462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8522462" y="2286000"/>
                  </a:lnTo>
                  <a:lnTo>
                    <a:pt x="8522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172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30" b="1">
                <a:solidFill>
                  <a:srgbClr val="000000"/>
                </a:solidFill>
                <a:latin typeface="Trebuchet MS"/>
                <a:cs typeface="Trebuchet MS"/>
              </a:rPr>
              <a:t>Addressing</a:t>
            </a:r>
            <a:r>
              <a:rPr dirty="0" sz="3700" spc="-34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700" spc="-240" b="1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3700" spc="-34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700" spc="-45" b="1">
                <a:solidFill>
                  <a:srgbClr val="000000"/>
                </a:solidFill>
                <a:latin typeface="Trebuchet MS"/>
                <a:cs typeface="Trebuchet MS"/>
              </a:rPr>
              <a:t>Flaws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39" y="2901670"/>
            <a:ext cx="4295140" cy="313245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b="1">
                <a:latin typeface="Trebuchet MS"/>
                <a:cs typeface="Trebuchet MS"/>
              </a:rPr>
              <a:t>Addressing</a:t>
            </a:r>
            <a:r>
              <a:rPr dirty="0" sz="2000" spc="-14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Limitations:</a:t>
            </a:r>
            <a:endParaRPr sz="2000">
              <a:latin typeface="Trebuchet MS"/>
              <a:cs typeface="Trebuchet MS"/>
            </a:endParaRPr>
          </a:p>
          <a:p>
            <a:pPr marL="239395" marR="5080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20">
                <a:latin typeface="Trebuchet MS"/>
                <a:cs typeface="Trebuchet MS"/>
              </a:rPr>
              <a:t>Redundancy:</a:t>
            </a:r>
            <a:r>
              <a:rPr dirty="0" sz="2000" spc="-215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Mesh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-65">
                <a:latin typeface="Trebuchet MS"/>
                <a:cs typeface="Trebuchet MS"/>
              </a:rPr>
              <a:t>of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nodes,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not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just 	one.</a:t>
            </a:r>
            <a:endParaRPr sz="2000">
              <a:latin typeface="Trebuchet MS"/>
              <a:cs typeface="Trebuchet MS"/>
            </a:endParaRPr>
          </a:p>
          <a:p>
            <a:pPr marL="239395" marR="339090" indent="-226695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rebuchet MS"/>
                <a:cs typeface="Trebuchet MS"/>
              </a:rPr>
              <a:t>Sensor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Reliability: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Sensor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fusion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+ </a:t>
            </a:r>
            <a:r>
              <a:rPr dirty="0" sz="2000" spc="-50">
                <a:latin typeface="Trebuchet MS"/>
                <a:cs typeface="Trebuchet MS"/>
              </a:rPr>
              <a:t>	</a:t>
            </a:r>
            <a:r>
              <a:rPr dirty="0" sz="2000" spc="-40">
                <a:latin typeface="Trebuchet MS"/>
                <a:cs typeface="Trebuchet MS"/>
              </a:rPr>
              <a:t>moving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average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filters.</a:t>
            </a: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ts val="2280"/>
              </a:lnSpc>
              <a:spcBef>
                <a:spcPts val="72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60">
                <a:latin typeface="Trebuchet MS"/>
                <a:cs typeface="Trebuchet MS"/>
              </a:rPr>
              <a:t>Power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Resilience: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Battery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backup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430">
                <a:latin typeface="Trebuchet MS"/>
                <a:cs typeface="Trebuchet MS"/>
              </a:rPr>
              <a:t>/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latin typeface="Trebuchet MS"/>
                <a:cs typeface="Trebuchet MS"/>
              </a:rPr>
              <a:t>Solar.</a:t>
            </a:r>
            <a:endParaRPr sz="2000">
              <a:latin typeface="Trebuchet MS"/>
              <a:cs typeface="Trebuchet MS"/>
            </a:endParaRPr>
          </a:p>
          <a:p>
            <a:pPr marL="239395" marR="241935" indent="-226695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Trebuchet MS"/>
                <a:cs typeface="Trebuchet MS"/>
              </a:rPr>
              <a:t>Scalable:</a:t>
            </a:r>
            <a:r>
              <a:rPr dirty="0" sz="2000" spc="-120" b="1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Low-</a:t>
            </a:r>
            <a:r>
              <a:rPr dirty="0" sz="2000">
                <a:latin typeface="Trebuchet MS"/>
                <a:cs typeface="Trebuchet MS"/>
              </a:rPr>
              <a:t>cost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hardware.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35">
                <a:latin typeface="Trebuchet MS"/>
                <a:cs typeface="Trebuchet MS"/>
              </a:rPr>
              <a:t>Can </a:t>
            </a:r>
            <a:r>
              <a:rPr dirty="0" sz="2000" spc="35">
                <a:latin typeface="Trebuchet MS"/>
                <a:cs typeface="Trebuchet MS"/>
              </a:rPr>
              <a:t>	</a:t>
            </a:r>
            <a:r>
              <a:rPr dirty="0" sz="2000" spc="-45">
                <a:latin typeface="Trebuchet MS"/>
                <a:cs typeface="Trebuchet MS"/>
              </a:rPr>
              <a:t>cover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an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entire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dam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perimeter.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7" name="object 7" descr="Rubber bands connected attached to nail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-3"/>
            <a:ext cx="6096000" cy="6857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" y="0"/>
            <a:ext cx="12192003" cy="157645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Conclusion</a:t>
            </a:r>
          </a:p>
        </p:txBody>
      </p:sp>
      <p:sp>
        <p:nvSpPr>
          <p:cNvPr id="4" name="object 4"/>
          <p:cNvSpPr/>
          <p:nvPr/>
        </p:nvSpPr>
        <p:spPr>
          <a:xfrm>
            <a:off x="1458714" y="3275846"/>
            <a:ext cx="946785" cy="835660"/>
          </a:xfrm>
          <a:custGeom>
            <a:avLst/>
            <a:gdLst/>
            <a:ahLst/>
            <a:cxnLst/>
            <a:rect l="l" t="t" r="r" b="b"/>
            <a:pathLst>
              <a:path w="946785" h="835660">
                <a:moveTo>
                  <a:pt x="467726" y="0"/>
                </a:moveTo>
                <a:lnTo>
                  <a:pt x="5562" y="769265"/>
                </a:lnTo>
                <a:lnTo>
                  <a:pt x="0" y="785815"/>
                </a:lnTo>
                <a:lnTo>
                  <a:pt x="1171" y="802629"/>
                </a:lnTo>
                <a:lnTo>
                  <a:pt x="8559" y="817778"/>
                </a:lnTo>
                <a:lnTo>
                  <a:pt x="21647" y="829329"/>
                </a:lnTo>
                <a:lnTo>
                  <a:pt x="28314" y="833177"/>
                </a:lnTo>
                <a:lnTo>
                  <a:pt x="35909" y="835219"/>
                </a:lnTo>
                <a:lnTo>
                  <a:pt x="902505" y="835219"/>
                </a:lnTo>
                <a:lnTo>
                  <a:pt x="919606" y="831745"/>
                </a:lnTo>
                <a:lnTo>
                  <a:pt x="933564" y="822308"/>
                </a:lnTo>
                <a:lnTo>
                  <a:pt x="942957" y="808322"/>
                </a:lnTo>
                <a:lnTo>
                  <a:pt x="946359" y="791204"/>
                </a:lnTo>
                <a:lnTo>
                  <a:pt x="946359" y="783500"/>
                </a:lnTo>
                <a:lnTo>
                  <a:pt x="944345" y="775934"/>
                </a:lnTo>
                <a:lnTo>
                  <a:pt x="893713" y="687811"/>
                </a:lnTo>
                <a:lnTo>
                  <a:pt x="470064" y="687811"/>
                </a:lnTo>
                <a:lnTo>
                  <a:pt x="469458" y="681431"/>
                </a:lnTo>
                <a:lnTo>
                  <a:pt x="465217" y="663807"/>
                </a:lnTo>
                <a:lnTo>
                  <a:pt x="462283" y="657033"/>
                </a:lnTo>
                <a:lnTo>
                  <a:pt x="378218" y="657033"/>
                </a:lnTo>
                <a:lnTo>
                  <a:pt x="350445" y="632190"/>
                </a:lnTo>
                <a:lnTo>
                  <a:pt x="326102" y="589869"/>
                </a:lnTo>
                <a:lnTo>
                  <a:pt x="314798" y="535347"/>
                </a:lnTo>
                <a:lnTo>
                  <a:pt x="326143" y="473899"/>
                </a:lnTo>
                <a:lnTo>
                  <a:pt x="334246" y="459041"/>
                </a:lnTo>
                <a:lnTo>
                  <a:pt x="347869" y="440854"/>
                </a:lnTo>
                <a:lnTo>
                  <a:pt x="366559" y="420585"/>
                </a:lnTo>
                <a:lnTo>
                  <a:pt x="389864" y="399481"/>
                </a:lnTo>
                <a:lnTo>
                  <a:pt x="418176" y="371538"/>
                </a:lnTo>
                <a:lnTo>
                  <a:pt x="444480" y="332001"/>
                </a:lnTo>
                <a:lnTo>
                  <a:pt x="457208" y="283994"/>
                </a:lnTo>
                <a:lnTo>
                  <a:pt x="444796" y="230638"/>
                </a:lnTo>
                <a:lnTo>
                  <a:pt x="631118" y="230638"/>
                </a:lnTo>
                <a:lnTo>
                  <a:pt x="511153" y="21782"/>
                </a:lnTo>
                <a:lnTo>
                  <a:pt x="499647" y="8659"/>
                </a:lnTo>
                <a:lnTo>
                  <a:pt x="484528" y="1229"/>
                </a:lnTo>
                <a:lnTo>
                  <a:pt x="467726" y="0"/>
                </a:lnTo>
                <a:close/>
              </a:path>
              <a:path w="946785" h="835660">
                <a:moveTo>
                  <a:pt x="766488" y="466315"/>
                </a:moveTo>
                <a:lnTo>
                  <a:pt x="608492" y="466315"/>
                </a:lnTo>
                <a:lnTo>
                  <a:pt x="622172" y="494746"/>
                </a:lnTo>
                <a:lnTo>
                  <a:pt x="626828" y="527432"/>
                </a:lnTo>
                <a:lnTo>
                  <a:pt x="612887" y="591188"/>
                </a:lnTo>
                <a:lnTo>
                  <a:pt x="589426" y="630794"/>
                </a:lnTo>
                <a:lnTo>
                  <a:pt x="556153" y="661217"/>
                </a:lnTo>
                <a:lnTo>
                  <a:pt x="515540" y="680781"/>
                </a:lnTo>
                <a:lnTo>
                  <a:pt x="470064" y="687811"/>
                </a:lnTo>
                <a:lnTo>
                  <a:pt x="893713" y="687811"/>
                </a:lnTo>
                <a:lnTo>
                  <a:pt x="766488" y="466315"/>
                </a:lnTo>
                <a:close/>
              </a:path>
              <a:path w="946785" h="835660">
                <a:moveTo>
                  <a:pt x="410079" y="487090"/>
                </a:moveTo>
                <a:lnTo>
                  <a:pt x="381899" y="524069"/>
                </a:lnTo>
                <a:lnTo>
                  <a:pt x="366782" y="566926"/>
                </a:lnTo>
                <a:lnTo>
                  <a:pt x="365349" y="612351"/>
                </a:lnTo>
                <a:lnTo>
                  <a:pt x="378218" y="657033"/>
                </a:lnTo>
                <a:lnTo>
                  <a:pt x="462283" y="657033"/>
                </a:lnTo>
                <a:lnTo>
                  <a:pt x="453703" y="637217"/>
                </a:lnTo>
                <a:lnTo>
                  <a:pt x="431282" y="603939"/>
                </a:lnTo>
                <a:lnTo>
                  <a:pt x="411608" y="565509"/>
                </a:lnTo>
                <a:lnTo>
                  <a:pt x="406169" y="527803"/>
                </a:lnTo>
                <a:lnTo>
                  <a:pt x="406254" y="525715"/>
                </a:lnTo>
                <a:lnTo>
                  <a:pt x="407938" y="498624"/>
                </a:lnTo>
                <a:lnTo>
                  <a:pt x="410079" y="487090"/>
                </a:lnTo>
                <a:close/>
              </a:path>
              <a:path w="946785" h="835660">
                <a:moveTo>
                  <a:pt x="631118" y="230638"/>
                </a:moveTo>
                <a:lnTo>
                  <a:pt x="444796" y="230638"/>
                </a:lnTo>
                <a:lnTo>
                  <a:pt x="483358" y="254598"/>
                </a:lnTo>
                <a:lnTo>
                  <a:pt x="512805" y="287298"/>
                </a:lnTo>
                <a:lnTo>
                  <a:pt x="531986" y="325695"/>
                </a:lnTo>
                <a:lnTo>
                  <a:pt x="539750" y="366748"/>
                </a:lnTo>
                <a:lnTo>
                  <a:pt x="534947" y="407417"/>
                </a:lnTo>
                <a:lnTo>
                  <a:pt x="516427" y="444660"/>
                </a:lnTo>
                <a:lnTo>
                  <a:pt x="505392" y="469820"/>
                </a:lnTo>
                <a:lnTo>
                  <a:pt x="506511" y="494002"/>
                </a:lnTo>
                <a:lnTo>
                  <a:pt x="518219" y="514205"/>
                </a:lnTo>
                <a:lnTo>
                  <a:pt x="538949" y="527432"/>
                </a:lnTo>
                <a:lnTo>
                  <a:pt x="559651" y="530582"/>
                </a:lnTo>
                <a:lnTo>
                  <a:pt x="579272" y="525715"/>
                </a:lnTo>
                <a:lnTo>
                  <a:pt x="595637" y="513840"/>
                </a:lnTo>
                <a:lnTo>
                  <a:pt x="606570" y="495967"/>
                </a:lnTo>
                <a:lnTo>
                  <a:pt x="608645" y="488717"/>
                </a:lnTo>
                <a:lnTo>
                  <a:pt x="609663" y="481282"/>
                </a:lnTo>
                <a:lnTo>
                  <a:pt x="609615" y="473899"/>
                </a:lnTo>
                <a:lnTo>
                  <a:pt x="608492" y="466315"/>
                </a:lnTo>
                <a:lnTo>
                  <a:pt x="766488" y="466315"/>
                </a:lnTo>
                <a:lnTo>
                  <a:pt x="631118" y="230638"/>
                </a:lnTo>
                <a:close/>
              </a:path>
            </a:pathLst>
          </a:custGeom>
          <a:solidFill>
            <a:srgbClr val="9F2B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74547" y="4493133"/>
            <a:ext cx="1908810" cy="491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dirty="0" sz="1600" b="1">
                <a:latin typeface="Trebuchet MS"/>
                <a:cs typeface="Trebuchet MS"/>
              </a:rPr>
              <a:t>Ash</a:t>
            </a:r>
            <a:r>
              <a:rPr dirty="0" sz="1600" spc="-80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dam</a:t>
            </a:r>
            <a:r>
              <a:rPr dirty="0" sz="1600" spc="-80" b="1">
                <a:latin typeface="Trebuchet MS"/>
                <a:cs typeface="Trebuchet MS"/>
              </a:rPr>
              <a:t> </a:t>
            </a:r>
            <a:r>
              <a:rPr dirty="0" sz="1600" spc="-30" b="1">
                <a:latin typeface="Trebuchet MS"/>
                <a:cs typeface="Trebuchet MS"/>
              </a:rPr>
              <a:t>failures</a:t>
            </a:r>
            <a:r>
              <a:rPr dirty="0" sz="1600" spc="-90" b="1">
                <a:latin typeface="Trebuchet MS"/>
                <a:cs typeface="Trebuchet MS"/>
              </a:rPr>
              <a:t> </a:t>
            </a:r>
            <a:r>
              <a:rPr dirty="0" sz="1600" spc="-25" b="1">
                <a:latin typeface="Trebuchet MS"/>
                <a:cs typeface="Trebuchet MS"/>
              </a:rPr>
              <a:t>are</a:t>
            </a:r>
            <a:endParaRPr sz="1600">
              <a:latin typeface="Trebuchet MS"/>
              <a:cs typeface="Trebuchet MS"/>
            </a:endParaRPr>
          </a:p>
          <a:p>
            <a:pPr algn="ctr" marL="635">
              <a:lnSpc>
                <a:spcPts val="1835"/>
              </a:lnSpc>
            </a:pPr>
            <a:r>
              <a:rPr dirty="0" sz="1600" spc="-10" b="1">
                <a:latin typeface="Trebuchet MS"/>
                <a:cs typeface="Trebuchet MS"/>
              </a:rPr>
              <a:t>preventable.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43908" y="3264661"/>
            <a:ext cx="747395" cy="856615"/>
          </a:xfrm>
          <a:custGeom>
            <a:avLst/>
            <a:gdLst/>
            <a:ahLst/>
            <a:cxnLst/>
            <a:rect l="l" t="t" r="r" b="b"/>
            <a:pathLst>
              <a:path w="747395" h="856614">
                <a:moveTo>
                  <a:pt x="175437" y="472668"/>
                </a:moveTo>
                <a:lnTo>
                  <a:pt x="173710" y="464108"/>
                </a:lnTo>
                <a:lnTo>
                  <a:pt x="168998" y="457123"/>
                </a:lnTo>
                <a:lnTo>
                  <a:pt x="162013" y="452412"/>
                </a:lnTo>
                <a:lnTo>
                  <a:pt x="153466" y="450684"/>
                </a:lnTo>
                <a:lnTo>
                  <a:pt x="144919" y="452412"/>
                </a:lnTo>
                <a:lnTo>
                  <a:pt x="137934" y="457123"/>
                </a:lnTo>
                <a:lnTo>
                  <a:pt x="133223" y="464108"/>
                </a:lnTo>
                <a:lnTo>
                  <a:pt x="131495" y="472668"/>
                </a:lnTo>
                <a:lnTo>
                  <a:pt x="133223" y="481228"/>
                </a:lnTo>
                <a:lnTo>
                  <a:pt x="137934" y="488213"/>
                </a:lnTo>
                <a:lnTo>
                  <a:pt x="144919" y="492925"/>
                </a:lnTo>
                <a:lnTo>
                  <a:pt x="153466" y="494652"/>
                </a:lnTo>
                <a:lnTo>
                  <a:pt x="162013" y="492925"/>
                </a:lnTo>
                <a:lnTo>
                  <a:pt x="168998" y="488213"/>
                </a:lnTo>
                <a:lnTo>
                  <a:pt x="173710" y="481228"/>
                </a:lnTo>
                <a:lnTo>
                  <a:pt x="175437" y="472668"/>
                </a:lnTo>
                <a:close/>
              </a:path>
              <a:path w="747395" h="856614">
                <a:moveTo>
                  <a:pt x="395173" y="703516"/>
                </a:moveTo>
                <a:lnTo>
                  <a:pt x="393446" y="694956"/>
                </a:lnTo>
                <a:lnTo>
                  <a:pt x="388734" y="687971"/>
                </a:lnTo>
                <a:lnTo>
                  <a:pt x="381749" y="683260"/>
                </a:lnTo>
                <a:lnTo>
                  <a:pt x="373189" y="681520"/>
                </a:lnTo>
                <a:lnTo>
                  <a:pt x="364642" y="683260"/>
                </a:lnTo>
                <a:lnTo>
                  <a:pt x="357657" y="687971"/>
                </a:lnTo>
                <a:lnTo>
                  <a:pt x="352945" y="694956"/>
                </a:lnTo>
                <a:lnTo>
                  <a:pt x="351218" y="703516"/>
                </a:lnTo>
                <a:lnTo>
                  <a:pt x="352945" y="712063"/>
                </a:lnTo>
                <a:lnTo>
                  <a:pt x="357657" y="719048"/>
                </a:lnTo>
                <a:lnTo>
                  <a:pt x="364642" y="723773"/>
                </a:lnTo>
                <a:lnTo>
                  <a:pt x="373189" y="725500"/>
                </a:lnTo>
                <a:lnTo>
                  <a:pt x="381749" y="723773"/>
                </a:lnTo>
                <a:lnTo>
                  <a:pt x="388734" y="719061"/>
                </a:lnTo>
                <a:lnTo>
                  <a:pt x="393446" y="712063"/>
                </a:lnTo>
                <a:lnTo>
                  <a:pt x="395173" y="703516"/>
                </a:lnTo>
                <a:close/>
              </a:path>
              <a:path w="747395" h="856614">
                <a:moveTo>
                  <a:pt x="395173" y="263817"/>
                </a:moveTo>
                <a:lnTo>
                  <a:pt x="393446" y="255257"/>
                </a:lnTo>
                <a:lnTo>
                  <a:pt x="388734" y="248272"/>
                </a:lnTo>
                <a:lnTo>
                  <a:pt x="381749" y="243560"/>
                </a:lnTo>
                <a:lnTo>
                  <a:pt x="373189" y="241833"/>
                </a:lnTo>
                <a:lnTo>
                  <a:pt x="364642" y="243560"/>
                </a:lnTo>
                <a:lnTo>
                  <a:pt x="357657" y="248272"/>
                </a:lnTo>
                <a:lnTo>
                  <a:pt x="352945" y="255257"/>
                </a:lnTo>
                <a:lnTo>
                  <a:pt x="351218" y="263817"/>
                </a:lnTo>
                <a:lnTo>
                  <a:pt x="352945" y="272376"/>
                </a:lnTo>
                <a:lnTo>
                  <a:pt x="357657" y="279361"/>
                </a:lnTo>
                <a:lnTo>
                  <a:pt x="364642" y="284073"/>
                </a:lnTo>
                <a:lnTo>
                  <a:pt x="373189" y="285800"/>
                </a:lnTo>
                <a:lnTo>
                  <a:pt x="381749" y="284073"/>
                </a:lnTo>
                <a:lnTo>
                  <a:pt x="388734" y="279361"/>
                </a:lnTo>
                <a:lnTo>
                  <a:pt x="393446" y="272376"/>
                </a:lnTo>
                <a:lnTo>
                  <a:pt x="395173" y="263817"/>
                </a:lnTo>
                <a:close/>
              </a:path>
              <a:path w="747395" h="856614">
                <a:moveTo>
                  <a:pt x="497344" y="566102"/>
                </a:moveTo>
                <a:lnTo>
                  <a:pt x="395173" y="463880"/>
                </a:lnTo>
                <a:lnTo>
                  <a:pt x="395173" y="318782"/>
                </a:lnTo>
                <a:lnTo>
                  <a:pt x="351218" y="318782"/>
                </a:lnTo>
                <a:lnTo>
                  <a:pt x="351218" y="478167"/>
                </a:lnTo>
                <a:lnTo>
                  <a:pt x="353415" y="483666"/>
                </a:lnTo>
                <a:lnTo>
                  <a:pt x="466585" y="596887"/>
                </a:lnTo>
                <a:lnTo>
                  <a:pt x="497344" y="566102"/>
                </a:lnTo>
                <a:close/>
              </a:path>
              <a:path w="747395" h="856614">
                <a:moveTo>
                  <a:pt x="614895" y="472668"/>
                </a:moveTo>
                <a:lnTo>
                  <a:pt x="613168" y="464108"/>
                </a:lnTo>
                <a:lnTo>
                  <a:pt x="608457" y="457123"/>
                </a:lnTo>
                <a:lnTo>
                  <a:pt x="601472" y="452412"/>
                </a:lnTo>
                <a:lnTo>
                  <a:pt x="592924" y="450684"/>
                </a:lnTo>
                <a:lnTo>
                  <a:pt x="584365" y="452412"/>
                </a:lnTo>
                <a:lnTo>
                  <a:pt x="577380" y="457123"/>
                </a:lnTo>
                <a:lnTo>
                  <a:pt x="572681" y="464108"/>
                </a:lnTo>
                <a:lnTo>
                  <a:pt x="570953" y="472668"/>
                </a:lnTo>
                <a:lnTo>
                  <a:pt x="572681" y="481228"/>
                </a:lnTo>
                <a:lnTo>
                  <a:pt x="577380" y="488213"/>
                </a:lnTo>
                <a:lnTo>
                  <a:pt x="584365" y="492925"/>
                </a:lnTo>
                <a:lnTo>
                  <a:pt x="592924" y="494652"/>
                </a:lnTo>
                <a:lnTo>
                  <a:pt x="601472" y="492925"/>
                </a:lnTo>
                <a:lnTo>
                  <a:pt x="608457" y="488213"/>
                </a:lnTo>
                <a:lnTo>
                  <a:pt x="613168" y="481228"/>
                </a:lnTo>
                <a:lnTo>
                  <a:pt x="614895" y="472668"/>
                </a:lnTo>
                <a:close/>
              </a:path>
              <a:path w="747395" h="856614">
                <a:moveTo>
                  <a:pt x="747166" y="505447"/>
                </a:moveTo>
                <a:lnTo>
                  <a:pt x="746874" y="460159"/>
                </a:lnTo>
                <a:lnTo>
                  <a:pt x="741108" y="415277"/>
                </a:lnTo>
                <a:lnTo>
                  <a:pt x="729970" y="371348"/>
                </a:lnTo>
                <a:lnTo>
                  <a:pt x="713562" y="328879"/>
                </a:lnTo>
                <a:lnTo>
                  <a:pt x="691959" y="288391"/>
                </a:lnTo>
                <a:lnTo>
                  <a:pt x="680808" y="272529"/>
                </a:lnTo>
                <a:lnTo>
                  <a:pt x="680808" y="483768"/>
                </a:lnTo>
                <a:lnTo>
                  <a:pt x="677481" y="529234"/>
                </a:lnTo>
                <a:lnTo>
                  <a:pt x="667816" y="572693"/>
                </a:lnTo>
                <a:lnTo>
                  <a:pt x="652284" y="613587"/>
                </a:lnTo>
                <a:lnTo>
                  <a:pt x="631355" y="651433"/>
                </a:lnTo>
                <a:lnTo>
                  <a:pt x="605497" y="685749"/>
                </a:lnTo>
                <a:lnTo>
                  <a:pt x="575170" y="716089"/>
                </a:lnTo>
                <a:lnTo>
                  <a:pt x="540867" y="741959"/>
                </a:lnTo>
                <a:lnTo>
                  <a:pt x="503047" y="762901"/>
                </a:lnTo>
                <a:lnTo>
                  <a:pt x="462178" y="778446"/>
                </a:lnTo>
                <a:lnTo>
                  <a:pt x="418744" y="788123"/>
                </a:lnTo>
                <a:lnTo>
                  <a:pt x="373189" y="791451"/>
                </a:lnTo>
                <a:lnTo>
                  <a:pt x="327647" y="788123"/>
                </a:lnTo>
                <a:lnTo>
                  <a:pt x="284200" y="778446"/>
                </a:lnTo>
                <a:lnTo>
                  <a:pt x="243344" y="762901"/>
                </a:lnTo>
                <a:lnTo>
                  <a:pt x="205524" y="741959"/>
                </a:lnTo>
                <a:lnTo>
                  <a:pt x="171208" y="716089"/>
                </a:lnTo>
                <a:lnTo>
                  <a:pt x="140893" y="685749"/>
                </a:lnTo>
                <a:lnTo>
                  <a:pt x="115036" y="651433"/>
                </a:lnTo>
                <a:lnTo>
                  <a:pt x="94107" y="613587"/>
                </a:lnTo>
                <a:lnTo>
                  <a:pt x="78574" y="572693"/>
                </a:lnTo>
                <a:lnTo>
                  <a:pt x="68910" y="529234"/>
                </a:lnTo>
                <a:lnTo>
                  <a:pt x="65582" y="483768"/>
                </a:lnTo>
                <a:lnTo>
                  <a:pt x="68910" y="438086"/>
                </a:lnTo>
                <a:lnTo>
                  <a:pt x="78574" y="394627"/>
                </a:lnTo>
                <a:lnTo>
                  <a:pt x="94107" y="353733"/>
                </a:lnTo>
                <a:lnTo>
                  <a:pt x="115036" y="315899"/>
                </a:lnTo>
                <a:lnTo>
                  <a:pt x="140893" y="281571"/>
                </a:lnTo>
                <a:lnTo>
                  <a:pt x="171208" y="251231"/>
                </a:lnTo>
                <a:lnTo>
                  <a:pt x="205524" y="225361"/>
                </a:lnTo>
                <a:lnTo>
                  <a:pt x="243344" y="204419"/>
                </a:lnTo>
                <a:lnTo>
                  <a:pt x="284200" y="188874"/>
                </a:lnTo>
                <a:lnTo>
                  <a:pt x="327647" y="179209"/>
                </a:lnTo>
                <a:lnTo>
                  <a:pt x="373189" y="175869"/>
                </a:lnTo>
                <a:lnTo>
                  <a:pt x="418744" y="179209"/>
                </a:lnTo>
                <a:lnTo>
                  <a:pt x="462178" y="188874"/>
                </a:lnTo>
                <a:lnTo>
                  <a:pt x="503047" y="204419"/>
                </a:lnTo>
                <a:lnTo>
                  <a:pt x="540867" y="225361"/>
                </a:lnTo>
                <a:lnTo>
                  <a:pt x="575170" y="251231"/>
                </a:lnTo>
                <a:lnTo>
                  <a:pt x="605497" y="281571"/>
                </a:lnTo>
                <a:lnTo>
                  <a:pt x="631355" y="315899"/>
                </a:lnTo>
                <a:lnTo>
                  <a:pt x="652284" y="353733"/>
                </a:lnTo>
                <a:lnTo>
                  <a:pt x="667816" y="394627"/>
                </a:lnTo>
                <a:lnTo>
                  <a:pt x="677481" y="438086"/>
                </a:lnTo>
                <a:lnTo>
                  <a:pt x="680808" y="483768"/>
                </a:lnTo>
                <a:lnTo>
                  <a:pt x="680808" y="272529"/>
                </a:lnTo>
                <a:lnTo>
                  <a:pt x="665264" y="250405"/>
                </a:lnTo>
                <a:lnTo>
                  <a:pt x="633577" y="215442"/>
                </a:lnTo>
                <a:lnTo>
                  <a:pt x="666534" y="182473"/>
                </a:lnTo>
                <a:lnTo>
                  <a:pt x="670623" y="175869"/>
                </a:lnTo>
                <a:lnTo>
                  <a:pt x="671995" y="173672"/>
                </a:lnTo>
                <a:lnTo>
                  <a:pt x="673315" y="171551"/>
                </a:lnTo>
                <a:lnTo>
                  <a:pt x="654977" y="129324"/>
                </a:lnTo>
                <a:lnTo>
                  <a:pt x="642772" y="126682"/>
                </a:lnTo>
                <a:lnTo>
                  <a:pt x="630364" y="128574"/>
                </a:lnTo>
                <a:lnTo>
                  <a:pt x="619290" y="135204"/>
                </a:lnTo>
                <a:lnTo>
                  <a:pt x="581939" y="173672"/>
                </a:lnTo>
                <a:lnTo>
                  <a:pt x="541032" y="149834"/>
                </a:lnTo>
                <a:lnTo>
                  <a:pt x="497751" y="131356"/>
                </a:lnTo>
                <a:lnTo>
                  <a:pt x="452628" y="118643"/>
                </a:lnTo>
                <a:lnTo>
                  <a:pt x="406158" y="112115"/>
                </a:lnTo>
                <a:lnTo>
                  <a:pt x="406158" y="65951"/>
                </a:lnTo>
                <a:lnTo>
                  <a:pt x="505028" y="65951"/>
                </a:lnTo>
                <a:lnTo>
                  <a:pt x="505028" y="0"/>
                </a:lnTo>
                <a:lnTo>
                  <a:pt x="241363" y="0"/>
                </a:lnTo>
                <a:lnTo>
                  <a:pt x="241363" y="65951"/>
                </a:lnTo>
                <a:lnTo>
                  <a:pt x="340233" y="65951"/>
                </a:lnTo>
                <a:lnTo>
                  <a:pt x="340233" y="111023"/>
                </a:lnTo>
                <a:lnTo>
                  <a:pt x="293509" y="118122"/>
                </a:lnTo>
                <a:lnTo>
                  <a:pt x="248843" y="130810"/>
                </a:lnTo>
                <a:lnTo>
                  <a:pt x="206629" y="148717"/>
                </a:lnTo>
                <a:lnTo>
                  <a:pt x="167157" y="171551"/>
                </a:lnTo>
                <a:lnTo>
                  <a:pt x="131089" y="198742"/>
                </a:lnTo>
                <a:lnTo>
                  <a:pt x="98513" y="230124"/>
                </a:lnTo>
                <a:lnTo>
                  <a:pt x="69926" y="265277"/>
                </a:lnTo>
                <a:lnTo>
                  <a:pt x="45694" y="303847"/>
                </a:lnTo>
                <a:lnTo>
                  <a:pt x="26200" y="345465"/>
                </a:lnTo>
                <a:lnTo>
                  <a:pt x="11823" y="389775"/>
                </a:lnTo>
                <a:lnTo>
                  <a:pt x="2959" y="436397"/>
                </a:lnTo>
                <a:lnTo>
                  <a:pt x="0" y="483768"/>
                </a:lnTo>
                <a:lnTo>
                  <a:pt x="2857" y="529234"/>
                </a:lnTo>
                <a:lnTo>
                  <a:pt x="2921" y="530263"/>
                </a:lnTo>
                <a:lnTo>
                  <a:pt x="11455" y="575424"/>
                </a:lnTo>
                <a:lnTo>
                  <a:pt x="25323" y="618820"/>
                </a:lnTo>
                <a:lnTo>
                  <a:pt x="44272" y="659993"/>
                </a:lnTo>
                <a:lnTo>
                  <a:pt x="67995" y="698487"/>
                </a:lnTo>
                <a:lnTo>
                  <a:pt x="96253" y="733882"/>
                </a:lnTo>
                <a:lnTo>
                  <a:pt x="128765" y="765721"/>
                </a:lnTo>
                <a:lnTo>
                  <a:pt x="165239" y="793546"/>
                </a:lnTo>
                <a:lnTo>
                  <a:pt x="205435" y="816927"/>
                </a:lnTo>
                <a:lnTo>
                  <a:pt x="249047" y="835418"/>
                </a:lnTo>
                <a:lnTo>
                  <a:pt x="294652" y="848309"/>
                </a:lnTo>
                <a:lnTo>
                  <a:pt x="340639" y="855319"/>
                </a:lnTo>
                <a:lnTo>
                  <a:pt x="386524" y="856589"/>
                </a:lnTo>
                <a:lnTo>
                  <a:pt x="431825" y="852322"/>
                </a:lnTo>
                <a:lnTo>
                  <a:pt x="476046" y="842645"/>
                </a:lnTo>
                <a:lnTo>
                  <a:pt x="518731" y="827735"/>
                </a:lnTo>
                <a:lnTo>
                  <a:pt x="559371" y="807758"/>
                </a:lnTo>
                <a:lnTo>
                  <a:pt x="584339" y="791451"/>
                </a:lnTo>
                <a:lnTo>
                  <a:pt x="597471" y="782878"/>
                </a:lnTo>
                <a:lnTo>
                  <a:pt x="632574" y="753249"/>
                </a:lnTo>
                <a:lnTo>
                  <a:pt x="664171" y="719048"/>
                </a:lnTo>
                <a:lnTo>
                  <a:pt x="691794" y="680427"/>
                </a:lnTo>
                <a:lnTo>
                  <a:pt x="714311" y="638644"/>
                </a:lnTo>
                <a:lnTo>
                  <a:pt x="730986" y="595210"/>
                </a:lnTo>
                <a:lnTo>
                  <a:pt x="741908" y="550646"/>
                </a:lnTo>
                <a:lnTo>
                  <a:pt x="747166" y="505447"/>
                </a:lnTo>
                <a:close/>
              </a:path>
            </a:pathLst>
          </a:custGeom>
          <a:solidFill>
            <a:srgbClr val="2C2D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728084" y="4493133"/>
            <a:ext cx="1974214" cy="491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dirty="0" sz="1600" spc="-10" b="1">
                <a:latin typeface="Trebuchet MS"/>
                <a:cs typeface="Trebuchet MS"/>
              </a:rPr>
              <a:t>Real-</a:t>
            </a:r>
            <a:r>
              <a:rPr dirty="0" sz="1600" spc="-45" b="1">
                <a:latin typeface="Trebuchet MS"/>
                <a:cs typeface="Trebuchet MS"/>
              </a:rPr>
              <a:t>time</a:t>
            </a:r>
            <a:r>
              <a:rPr dirty="0" sz="1600" spc="-10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monitoring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ts val="1835"/>
              </a:lnSpc>
            </a:pPr>
            <a:r>
              <a:rPr dirty="0" sz="1600" b="1">
                <a:latin typeface="Trebuchet MS"/>
                <a:cs typeface="Trebuchet MS"/>
              </a:rPr>
              <a:t>saves</a:t>
            </a:r>
            <a:r>
              <a:rPr dirty="0" sz="1600" spc="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lives.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18946" y="3539462"/>
            <a:ext cx="967105" cy="307975"/>
          </a:xfrm>
          <a:custGeom>
            <a:avLst/>
            <a:gdLst/>
            <a:ahLst/>
            <a:cxnLst/>
            <a:rect l="l" t="t" r="r" b="b"/>
            <a:pathLst>
              <a:path w="967104" h="307975">
                <a:moveTo>
                  <a:pt x="219727" y="263817"/>
                </a:moveTo>
                <a:lnTo>
                  <a:pt x="87890" y="263817"/>
                </a:lnTo>
                <a:lnTo>
                  <a:pt x="87890" y="307786"/>
                </a:lnTo>
                <a:lnTo>
                  <a:pt x="219727" y="307786"/>
                </a:lnTo>
                <a:lnTo>
                  <a:pt x="219727" y="263817"/>
                </a:lnTo>
                <a:close/>
              </a:path>
              <a:path w="967104" h="307975">
                <a:moveTo>
                  <a:pt x="878907" y="263817"/>
                </a:moveTo>
                <a:lnTo>
                  <a:pt x="747071" y="263817"/>
                </a:lnTo>
                <a:lnTo>
                  <a:pt x="747071" y="307786"/>
                </a:lnTo>
                <a:lnTo>
                  <a:pt x="878907" y="307786"/>
                </a:lnTo>
                <a:lnTo>
                  <a:pt x="878907" y="263817"/>
                </a:lnTo>
                <a:close/>
              </a:path>
              <a:path w="967104" h="307975">
                <a:moveTo>
                  <a:pt x="922853" y="0"/>
                </a:moveTo>
                <a:lnTo>
                  <a:pt x="43945" y="0"/>
                </a:lnTo>
                <a:lnTo>
                  <a:pt x="26882" y="3469"/>
                </a:lnTo>
                <a:lnTo>
                  <a:pt x="12908" y="12916"/>
                </a:lnTo>
                <a:lnTo>
                  <a:pt x="3467" y="26897"/>
                </a:lnTo>
                <a:lnTo>
                  <a:pt x="0" y="43969"/>
                </a:lnTo>
                <a:lnTo>
                  <a:pt x="0" y="219847"/>
                </a:lnTo>
                <a:lnTo>
                  <a:pt x="3467" y="236920"/>
                </a:lnTo>
                <a:lnTo>
                  <a:pt x="12909" y="250901"/>
                </a:lnTo>
                <a:lnTo>
                  <a:pt x="26882" y="260347"/>
                </a:lnTo>
                <a:lnTo>
                  <a:pt x="43945" y="263817"/>
                </a:lnTo>
                <a:lnTo>
                  <a:pt x="922853" y="263817"/>
                </a:lnTo>
                <a:lnTo>
                  <a:pt x="939916" y="260347"/>
                </a:lnTo>
                <a:lnTo>
                  <a:pt x="953889" y="250901"/>
                </a:lnTo>
                <a:lnTo>
                  <a:pt x="963330" y="236920"/>
                </a:lnTo>
                <a:lnTo>
                  <a:pt x="966798" y="219847"/>
                </a:lnTo>
                <a:lnTo>
                  <a:pt x="966798" y="164885"/>
                </a:lnTo>
                <a:lnTo>
                  <a:pt x="87890" y="164885"/>
                </a:lnTo>
                <a:lnTo>
                  <a:pt x="87890" y="98931"/>
                </a:lnTo>
                <a:lnTo>
                  <a:pt x="966798" y="98931"/>
                </a:lnTo>
                <a:lnTo>
                  <a:pt x="966798" y="43969"/>
                </a:lnTo>
                <a:lnTo>
                  <a:pt x="963330" y="26897"/>
                </a:lnTo>
                <a:lnTo>
                  <a:pt x="953889" y="12916"/>
                </a:lnTo>
                <a:lnTo>
                  <a:pt x="939916" y="3469"/>
                </a:lnTo>
                <a:lnTo>
                  <a:pt x="922853" y="0"/>
                </a:lnTo>
                <a:close/>
              </a:path>
              <a:path w="967104" h="307975">
                <a:moveTo>
                  <a:pt x="527344" y="98931"/>
                </a:moveTo>
                <a:lnTo>
                  <a:pt x="483399" y="98931"/>
                </a:lnTo>
                <a:lnTo>
                  <a:pt x="483399" y="164885"/>
                </a:lnTo>
                <a:lnTo>
                  <a:pt x="527344" y="164885"/>
                </a:lnTo>
                <a:lnTo>
                  <a:pt x="527344" y="98931"/>
                </a:lnTo>
                <a:close/>
              </a:path>
              <a:path w="967104" h="307975">
                <a:moveTo>
                  <a:pt x="845948" y="98931"/>
                </a:moveTo>
                <a:lnTo>
                  <a:pt x="593262" y="98931"/>
                </a:lnTo>
                <a:lnTo>
                  <a:pt x="593262" y="164885"/>
                </a:lnTo>
                <a:lnTo>
                  <a:pt x="845948" y="164885"/>
                </a:lnTo>
                <a:lnTo>
                  <a:pt x="832919" y="162361"/>
                </a:lnTo>
                <a:lnTo>
                  <a:pt x="822465" y="155404"/>
                </a:lnTo>
                <a:lnTo>
                  <a:pt x="815513" y="144944"/>
                </a:lnTo>
                <a:lnTo>
                  <a:pt x="812989" y="131908"/>
                </a:lnTo>
                <a:lnTo>
                  <a:pt x="815513" y="118872"/>
                </a:lnTo>
                <a:lnTo>
                  <a:pt x="822465" y="108412"/>
                </a:lnTo>
                <a:lnTo>
                  <a:pt x="832919" y="101456"/>
                </a:lnTo>
                <a:lnTo>
                  <a:pt x="845948" y="98931"/>
                </a:lnTo>
                <a:close/>
              </a:path>
              <a:path w="967104" h="307975">
                <a:moveTo>
                  <a:pt x="966798" y="98931"/>
                </a:moveTo>
                <a:lnTo>
                  <a:pt x="845948" y="98931"/>
                </a:lnTo>
                <a:lnTo>
                  <a:pt x="858977" y="101456"/>
                </a:lnTo>
                <a:lnTo>
                  <a:pt x="869431" y="108412"/>
                </a:lnTo>
                <a:lnTo>
                  <a:pt x="876384" y="118872"/>
                </a:lnTo>
                <a:lnTo>
                  <a:pt x="878907" y="131908"/>
                </a:lnTo>
                <a:lnTo>
                  <a:pt x="876384" y="144944"/>
                </a:lnTo>
                <a:lnTo>
                  <a:pt x="869431" y="155404"/>
                </a:lnTo>
                <a:lnTo>
                  <a:pt x="858977" y="162361"/>
                </a:lnTo>
                <a:lnTo>
                  <a:pt x="845948" y="164885"/>
                </a:lnTo>
                <a:lnTo>
                  <a:pt x="966798" y="164885"/>
                </a:lnTo>
                <a:lnTo>
                  <a:pt x="966798" y="98931"/>
                </a:lnTo>
                <a:close/>
              </a:path>
            </a:pathLst>
          </a:custGeom>
          <a:solidFill>
            <a:srgbClr val="2CA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356730" y="4493133"/>
            <a:ext cx="2292985" cy="71564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43510" marR="5080" indent="-131445">
              <a:lnSpc>
                <a:spcPct val="91600"/>
              </a:lnSpc>
              <a:spcBef>
                <a:spcPts val="254"/>
              </a:spcBef>
            </a:pPr>
            <a:r>
              <a:rPr dirty="0" sz="1600" spc="-40" b="1">
                <a:latin typeface="Trebuchet MS"/>
                <a:cs typeface="Trebuchet MS"/>
              </a:rPr>
              <a:t>Our</a:t>
            </a:r>
            <a:r>
              <a:rPr dirty="0" sz="1600" spc="-120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system</a:t>
            </a:r>
            <a:r>
              <a:rPr dirty="0" sz="1600" spc="-125" b="1">
                <a:latin typeface="Trebuchet MS"/>
                <a:cs typeface="Trebuchet MS"/>
              </a:rPr>
              <a:t> </a:t>
            </a:r>
            <a:r>
              <a:rPr dirty="0" sz="1600" spc="-25" b="1">
                <a:latin typeface="Trebuchet MS"/>
                <a:cs typeface="Trebuchet MS"/>
              </a:rPr>
              <a:t>proves</a:t>
            </a:r>
            <a:r>
              <a:rPr dirty="0" sz="1600" spc="-120" b="1">
                <a:latin typeface="Trebuchet MS"/>
                <a:cs typeface="Trebuchet MS"/>
              </a:rPr>
              <a:t> </a:t>
            </a:r>
            <a:r>
              <a:rPr dirty="0" sz="1600" spc="-70" b="1">
                <a:latin typeface="Trebuchet MS"/>
                <a:cs typeface="Trebuchet MS"/>
              </a:rPr>
              <a:t>it</a:t>
            </a:r>
            <a:r>
              <a:rPr dirty="0" sz="1600" spc="-125" b="1">
                <a:latin typeface="Trebuchet MS"/>
                <a:cs typeface="Trebuchet MS"/>
              </a:rPr>
              <a:t> </a:t>
            </a:r>
            <a:r>
              <a:rPr dirty="0" sz="1600" spc="-25" b="1">
                <a:latin typeface="Trebuchet MS"/>
                <a:cs typeface="Trebuchet MS"/>
              </a:rPr>
              <a:t>can </a:t>
            </a:r>
            <a:r>
              <a:rPr dirty="0" sz="1600" spc="-30" b="1">
                <a:latin typeface="Trebuchet MS"/>
                <a:cs typeface="Trebuchet MS"/>
              </a:rPr>
              <a:t>be</a:t>
            </a:r>
            <a:r>
              <a:rPr dirty="0" sz="1600" spc="-150" b="1">
                <a:latin typeface="Trebuchet MS"/>
                <a:cs typeface="Trebuchet MS"/>
              </a:rPr>
              <a:t> </a:t>
            </a:r>
            <a:r>
              <a:rPr dirty="0" sz="1600" spc="-25" b="1">
                <a:latin typeface="Trebuchet MS"/>
                <a:cs typeface="Trebuchet MS"/>
              </a:rPr>
              <a:t>done</a:t>
            </a:r>
            <a:r>
              <a:rPr dirty="0" sz="1600" spc="-130" b="1">
                <a:latin typeface="Trebuchet MS"/>
                <a:cs typeface="Trebuchet MS"/>
              </a:rPr>
              <a:t> </a:t>
            </a:r>
            <a:r>
              <a:rPr dirty="0" sz="1600" spc="290" b="1">
                <a:latin typeface="Trebuchet MS"/>
                <a:cs typeface="Trebuchet MS"/>
              </a:rPr>
              <a:t>—</a:t>
            </a:r>
            <a:r>
              <a:rPr dirty="0" sz="1600" spc="-14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affordably, scalably,</a:t>
            </a:r>
            <a:r>
              <a:rPr dirty="0" sz="1600" spc="-130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and</a:t>
            </a:r>
            <a:r>
              <a:rPr dirty="0" sz="1600" spc="-14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reliably.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870229" y="3275645"/>
            <a:ext cx="835025" cy="835660"/>
            <a:chOff x="9870229" y="3275645"/>
            <a:chExt cx="835025" cy="8356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46010" y="3561447"/>
              <a:ext cx="131836" cy="1319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7573" y="3561447"/>
              <a:ext cx="131836" cy="1319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870224" y="3275647"/>
              <a:ext cx="835025" cy="835660"/>
            </a:xfrm>
            <a:custGeom>
              <a:avLst/>
              <a:gdLst/>
              <a:ahLst/>
              <a:cxnLst/>
              <a:rect l="l" t="t" r="r" b="b"/>
              <a:pathLst>
                <a:path w="835025" h="835660">
                  <a:moveTo>
                    <a:pt x="639406" y="582599"/>
                  </a:moveTo>
                  <a:lnTo>
                    <a:pt x="637667" y="574065"/>
                  </a:lnTo>
                  <a:lnTo>
                    <a:pt x="632955" y="567080"/>
                  </a:lnTo>
                  <a:lnTo>
                    <a:pt x="625957" y="562356"/>
                  </a:lnTo>
                  <a:lnTo>
                    <a:pt x="617435" y="560616"/>
                  </a:lnTo>
                  <a:lnTo>
                    <a:pt x="609739" y="560616"/>
                  </a:lnTo>
                  <a:lnTo>
                    <a:pt x="603148" y="563918"/>
                  </a:lnTo>
                  <a:lnTo>
                    <a:pt x="599859" y="569404"/>
                  </a:lnTo>
                  <a:lnTo>
                    <a:pt x="564248" y="606513"/>
                  </a:lnTo>
                  <a:lnTo>
                    <a:pt x="521030" y="634542"/>
                  </a:lnTo>
                  <a:lnTo>
                    <a:pt x="471627" y="652259"/>
                  </a:lnTo>
                  <a:lnTo>
                    <a:pt x="417474" y="658444"/>
                  </a:lnTo>
                  <a:lnTo>
                    <a:pt x="363486" y="652259"/>
                  </a:lnTo>
                  <a:lnTo>
                    <a:pt x="314350" y="634542"/>
                  </a:lnTo>
                  <a:lnTo>
                    <a:pt x="271170" y="606513"/>
                  </a:lnTo>
                  <a:lnTo>
                    <a:pt x="235102" y="569404"/>
                  </a:lnTo>
                  <a:lnTo>
                    <a:pt x="230708" y="563918"/>
                  </a:lnTo>
                  <a:lnTo>
                    <a:pt x="224116" y="560616"/>
                  </a:lnTo>
                  <a:lnTo>
                    <a:pt x="217525" y="560616"/>
                  </a:lnTo>
                  <a:lnTo>
                    <a:pt x="208991" y="562356"/>
                  </a:lnTo>
                  <a:lnTo>
                    <a:pt x="202006" y="567080"/>
                  </a:lnTo>
                  <a:lnTo>
                    <a:pt x="197294" y="574065"/>
                  </a:lnTo>
                  <a:lnTo>
                    <a:pt x="195554" y="582599"/>
                  </a:lnTo>
                  <a:lnTo>
                    <a:pt x="195554" y="586994"/>
                  </a:lnTo>
                  <a:lnTo>
                    <a:pt x="233438" y="632320"/>
                  </a:lnTo>
                  <a:lnTo>
                    <a:pt x="272719" y="662203"/>
                  </a:lnTo>
                  <a:lnTo>
                    <a:pt x="317017" y="684593"/>
                  </a:lnTo>
                  <a:lnTo>
                    <a:pt x="365531" y="698639"/>
                  </a:lnTo>
                  <a:lnTo>
                    <a:pt x="417474" y="703516"/>
                  </a:lnTo>
                  <a:lnTo>
                    <a:pt x="469417" y="698639"/>
                  </a:lnTo>
                  <a:lnTo>
                    <a:pt x="517944" y="684593"/>
                  </a:lnTo>
                  <a:lnTo>
                    <a:pt x="562241" y="662203"/>
                  </a:lnTo>
                  <a:lnTo>
                    <a:pt x="601522" y="632320"/>
                  </a:lnTo>
                  <a:lnTo>
                    <a:pt x="635012" y="595795"/>
                  </a:lnTo>
                  <a:lnTo>
                    <a:pt x="639406" y="588098"/>
                  </a:lnTo>
                  <a:lnTo>
                    <a:pt x="639406" y="582599"/>
                  </a:lnTo>
                  <a:close/>
                </a:path>
                <a:path w="835025" h="835660">
                  <a:moveTo>
                    <a:pt x="834961" y="417715"/>
                  </a:moveTo>
                  <a:lnTo>
                    <a:pt x="832269" y="371005"/>
                  </a:lnTo>
                  <a:lnTo>
                    <a:pt x="832154" y="368973"/>
                  </a:lnTo>
                  <a:lnTo>
                    <a:pt x="823937" y="321894"/>
                  </a:lnTo>
                  <a:lnTo>
                    <a:pt x="810641" y="276783"/>
                  </a:lnTo>
                  <a:lnTo>
                    <a:pt x="792556" y="233946"/>
                  </a:lnTo>
                  <a:lnTo>
                    <a:pt x="791019" y="231216"/>
                  </a:lnTo>
                  <a:lnTo>
                    <a:pt x="791019" y="417715"/>
                  </a:lnTo>
                  <a:lnTo>
                    <a:pt x="788085" y="464426"/>
                  </a:lnTo>
                  <a:lnTo>
                    <a:pt x="779551" y="509460"/>
                  </a:lnTo>
                  <a:lnTo>
                    <a:pt x="765771" y="552450"/>
                  </a:lnTo>
                  <a:lnTo>
                    <a:pt x="747077" y="593039"/>
                  </a:lnTo>
                  <a:lnTo>
                    <a:pt x="723861" y="630872"/>
                  </a:lnTo>
                  <a:lnTo>
                    <a:pt x="696455" y="665594"/>
                  </a:lnTo>
                  <a:lnTo>
                    <a:pt x="665213" y="696836"/>
                  </a:lnTo>
                  <a:lnTo>
                    <a:pt x="630516" y="724255"/>
                  </a:lnTo>
                  <a:lnTo>
                    <a:pt x="592709" y="747496"/>
                  </a:lnTo>
                  <a:lnTo>
                    <a:pt x="552132" y="766191"/>
                  </a:lnTo>
                  <a:lnTo>
                    <a:pt x="509168" y="779995"/>
                  </a:lnTo>
                  <a:lnTo>
                    <a:pt x="464172" y="788530"/>
                  </a:lnTo>
                  <a:lnTo>
                    <a:pt x="417474" y="791451"/>
                  </a:lnTo>
                  <a:lnTo>
                    <a:pt x="370789" y="788530"/>
                  </a:lnTo>
                  <a:lnTo>
                    <a:pt x="325793" y="779995"/>
                  </a:lnTo>
                  <a:lnTo>
                    <a:pt x="282829" y="766191"/>
                  </a:lnTo>
                  <a:lnTo>
                    <a:pt x="242252" y="747496"/>
                  </a:lnTo>
                  <a:lnTo>
                    <a:pt x="204444" y="724255"/>
                  </a:lnTo>
                  <a:lnTo>
                    <a:pt x="169748" y="696836"/>
                  </a:lnTo>
                  <a:lnTo>
                    <a:pt x="138506" y="665594"/>
                  </a:lnTo>
                  <a:lnTo>
                    <a:pt x="111099" y="630872"/>
                  </a:lnTo>
                  <a:lnTo>
                    <a:pt x="87884" y="593039"/>
                  </a:lnTo>
                  <a:lnTo>
                    <a:pt x="69189" y="552450"/>
                  </a:lnTo>
                  <a:lnTo>
                    <a:pt x="55410" y="509460"/>
                  </a:lnTo>
                  <a:lnTo>
                    <a:pt x="46863" y="464426"/>
                  </a:lnTo>
                  <a:lnTo>
                    <a:pt x="43942" y="417715"/>
                  </a:lnTo>
                  <a:lnTo>
                    <a:pt x="46863" y="371005"/>
                  </a:lnTo>
                  <a:lnTo>
                    <a:pt x="55410" y="325970"/>
                  </a:lnTo>
                  <a:lnTo>
                    <a:pt x="69189" y="282981"/>
                  </a:lnTo>
                  <a:lnTo>
                    <a:pt x="87884" y="242392"/>
                  </a:lnTo>
                  <a:lnTo>
                    <a:pt x="111099" y="204558"/>
                  </a:lnTo>
                  <a:lnTo>
                    <a:pt x="138506" y="169837"/>
                  </a:lnTo>
                  <a:lnTo>
                    <a:pt x="169748" y="138595"/>
                  </a:lnTo>
                  <a:lnTo>
                    <a:pt x="204444" y="111163"/>
                  </a:lnTo>
                  <a:lnTo>
                    <a:pt x="242252" y="87934"/>
                  </a:lnTo>
                  <a:lnTo>
                    <a:pt x="282829" y="69240"/>
                  </a:lnTo>
                  <a:lnTo>
                    <a:pt x="325793" y="55435"/>
                  </a:lnTo>
                  <a:lnTo>
                    <a:pt x="370789" y="46901"/>
                  </a:lnTo>
                  <a:lnTo>
                    <a:pt x="417474" y="43967"/>
                  </a:lnTo>
                  <a:lnTo>
                    <a:pt x="464172" y="46901"/>
                  </a:lnTo>
                  <a:lnTo>
                    <a:pt x="509168" y="55435"/>
                  </a:lnTo>
                  <a:lnTo>
                    <a:pt x="552132" y="69240"/>
                  </a:lnTo>
                  <a:lnTo>
                    <a:pt x="592709" y="87934"/>
                  </a:lnTo>
                  <a:lnTo>
                    <a:pt x="630516" y="111163"/>
                  </a:lnTo>
                  <a:lnTo>
                    <a:pt x="665213" y="138595"/>
                  </a:lnTo>
                  <a:lnTo>
                    <a:pt x="696455" y="169837"/>
                  </a:lnTo>
                  <a:lnTo>
                    <a:pt x="723861" y="204558"/>
                  </a:lnTo>
                  <a:lnTo>
                    <a:pt x="747077" y="242392"/>
                  </a:lnTo>
                  <a:lnTo>
                    <a:pt x="765771" y="282981"/>
                  </a:lnTo>
                  <a:lnTo>
                    <a:pt x="779551" y="325970"/>
                  </a:lnTo>
                  <a:lnTo>
                    <a:pt x="788085" y="371005"/>
                  </a:lnTo>
                  <a:lnTo>
                    <a:pt x="791019" y="417715"/>
                  </a:lnTo>
                  <a:lnTo>
                    <a:pt x="791019" y="231216"/>
                  </a:lnTo>
                  <a:lnTo>
                    <a:pt x="770001" y="193725"/>
                  </a:lnTo>
                  <a:lnTo>
                    <a:pt x="743292" y="156400"/>
                  </a:lnTo>
                  <a:lnTo>
                    <a:pt x="712736" y="122288"/>
                  </a:lnTo>
                  <a:lnTo>
                    <a:pt x="678649" y="91719"/>
                  </a:lnTo>
                  <a:lnTo>
                    <a:pt x="641350" y="64998"/>
                  </a:lnTo>
                  <a:lnTo>
                    <a:pt x="603885" y="43967"/>
                  </a:lnTo>
                  <a:lnTo>
                    <a:pt x="558342" y="24345"/>
                  </a:lnTo>
                  <a:lnTo>
                    <a:pt x="513245" y="11023"/>
                  </a:lnTo>
                  <a:lnTo>
                    <a:pt x="466191" y="2806"/>
                  </a:lnTo>
                  <a:lnTo>
                    <a:pt x="417474" y="0"/>
                  </a:lnTo>
                  <a:lnTo>
                    <a:pt x="368769" y="2806"/>
                  </a:lnTo>
                  <a:lnTo>
                    <a:pt x="321703" y="11023"/>
                  </a:lnTo>
                  <a:lnTo>
                    <a:pt x="276618" y="24345"/>
                  </a:lnTo>
                  <a:lnTo>
                    <a:pt x="233819" y="42430"/>
                  </a:lnTo>
                  <a:lnTo>
                    <a:pt x="193611" y="64998"/>
                  </a:lnTo>
                  <a:lnTo>
                    <a:pt x="156311" y="91719"/>
                  </a:lnTo>
                  <a:lnTo>
                    <a:pt x="122224" y="122288"/>
                  </a:lnTo>
                  <a:lnTo>
                    <a:pt x="91668" y="156400"/>
                  </a:lnTo>
                  <a:lnTo>
                    <a:pt x="64960" y="193725"/>
                  </a:lnTo>
                  <a:lnTo>
                    <a:pt x="42405" y="233946"/>
                  </a:lnTo>
                  <a:lnTo>
                    <a:pt x="24320" y="276783"/>
                  </a:lnTo>
                  <a:lnTo>
                    <a:pt x="11023" y="321894"/>
                  </a:lnTo>
                  <a:lnTo>
                    <a:pt x="2806" y="368973"/>
                  </a:lnTo>
                  <a:lnTo>
                    <a:pt x="0" y="417715"/>
                  </a:lnTo>
                  <a:lnTo>
                    <a:pt x="2692" y="464426"/>
                  </a:lnTo>
                  <a:lnTo>
                    <a:pt x="2806" y="466458"/>
                  </a:lnTo>
                  <a:lnTo>
                    <a:pt x="11023" y="513537"/>
                  </a:lnTo>
                  <a:lnTo>
                    <a:pt x="24320" y="558647"/>
                  </a:lnTo>
                  <a:lnTo>
                    <a:pt x="42405" y="601472"/>
                  </a:lnTo>
                  <a:lnTo>
                    <a:pt x="64960" y="641705"/>
                  </a:lnTo>
                  <a:lnTo>
                    <a:pt x="91668" y="679030"/>
                  </a:lnTo>
                  <a:lnTo>
                    <a:pt x="122224" y="713130"/>
                  </a:lnTo>
                  <a:lnTo>
                    <a:pt x="156311" y="743699"/>
                  </a:lnTo>
                  <a:lnTo>
                    <a:pt x="193611" y="770432"/>
                  </a:lnTo>
                  <a:lnTo>
                    <a:pt x="233819" y="793000"/>
                  </a:lnTo>
                  <a:lnTo>
                    <a:pt x="276618" y="811085"/>
                  </a:lnTo>
                  <a:lnTo>
                    <a:pt x="321703" y="824395"/>
                  </a:lnTo>
                  <a:lnTo>
                    <a:pt x="368769" y="832612"/>
                  </a:lnTo>
                  <a:lnTo>
                    <a:pt x="417474" y="835431"/>
                  </a:lnTo>
                  <a:lnTo>
                    <a:pt x="466191" y="832612"/>
                  </a:lnTo>
                  <a:lnTo>
                    <a:pt x="513245" y="824395"/>
                  </a:lnTo>
                  <a:lnTo>
                    <a:pt x="558342" y="811085"/>
                  </a:lnTo>
                  <a:lnTo>
                    <a:pt x="601141" y="793000"/>
                  </a:lnTo>
                  <a:lnTo>
                    <a:pt x="603885" y="791451"/>
                  </a:lnTo>
                  <a:lnTo>
                    <a:pt x="641350" y="770432"/>
                  </a:lnTo>
                  <a:lnTo>
                    <a:pt x="678649" y="743699"/>
                  </a:lnTo>
                  <a:lnTo>
                    <a:pt x="712736" y="713130"/>
                  </a:lnTo>
                  <a:lnTo>
                    <a:pt x="743292" y="679030"/>
                  </a:lnTo>
                  <a:lnTo>
                    <a:pt x="770001" y="641705"/>
                  </a:lnTo>
                  <a:lnTo>
                    <a:pt x="792556" y="601472"/>
                  </a:lnTo>
                  <a:lnTo>
                    <a:pt x="810641" y="558647"/>
                  </a:lnTo>
                  <a:lnTo>
                    <a:pt x="823937" y="513537"/>
                  </a:lnTo>
                  <a:lnTo>
                    <a:pt x="832154" y="466458"/>
                  </a:lnTo>
                  <a:lnTo>
                    <a:pt x="834961" y="417715"/>
                  </a:lnTo>
                  <a:close/>
                </a:path>
              </a:pathLst>
            </a:custGeom>
            <a:solidFill>
              <a:srgbClr val="4EA7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807067" y="4493133"/>
            <a:ext cx="959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5" b="1">
                <a:latin typeface="Trebuchet MS"/>
                <a:cs typeface="Trebuchet MS"/>
              </a:rPr>
              <a:t>Thank</a:t>
            </a:r>
            <a:r>
              <a:rPr dirty="0" sz="1600" spc="-105" b="1">
                <a:latin typeface="Trebuchet MS"/>
                <a:cs typeface="Trebuchet MS"/>
              </a:rPr>
              <a:t> </a:t>
            </a:r>
            <a:r>
              <a:rPr dirty="0" sz="1600" spc="-25" b="1">
                <a:latin typeface="Trebuchet MS"/>
                <a:cs typeface="Trebuchet MS"/>
              </a:rPr>
              <a:t>you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Pulane Somo</dc:creator>
  <dcterms:created xsi:type="dcterms:W3CDTF">2026-09-17T20:59:28Z</dcterms:created>
  <dcterms:modified xsi:type="dcterms:W3CDTF">2026-09-17T20:59:28Z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2026-09-17T00:00:00Z</vt:filetime>
  </property>
  <property fmtid="{D5CDD505-2E9C-101B-9397-08002B2CF9AE}" pid="6" name="Producer">
    <vt:lpwstr>Microsoft® PowerPoint® for Microsoft 365</vt:lpwstr>
  </property>
</Properties>
</file>